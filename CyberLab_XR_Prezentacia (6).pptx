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64538F-977C-460C-B3EC-DA1B5482F73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8A8833-01FC-4C49-BF12-5F11167FE3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19E1EC-C8E7-4714-B5C6-F9A187337E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4DF0E9-AC92-49F4-8AA7-9CE7979747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AAF6-3D20-5F61-8FB7-96E33660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>
            <a:extLst>
              <a:ext uri="{FF2B5EF4-FFF2-40B4-BE49-F238E27FC236}">
                <a16:creationId xmlns:a16="http://schemas.microsoft.com/office/drawing/2014/main" id="{9EF4EFF3-018F-895A-B31A-2BA7D9F66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>
            <a:extLst>
              <a:ext uri="{FF2B5EF4-FFF2-40B4-BE49-F238E27FC236}">
                <a16:creationId xmlns:a16="http://schemas.microsoft.com/office/drawing/2014/main" id="{BFE08B2F-F109-5016-5C17-7D0FB82F86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>
            <a:extLst>
              <a:ext uri="{FF2B5EF4-FFF2-40B4-BE49-F238E27FC236}">
                <a16:creationId xmlns:a16="http://schemas.microsoft.com/office/drawing/2014/main" id="{F6D4ACB6-6CAE-00FF-FFC2-13161C8E71DE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8812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8CC3-D59E-928A-DC51-A0ADD180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>
            <a:extLst>
              <a:ext uri="{FF2B5EF4-FFF2-40B4-BE49-F238E27FC236}">
                <a16:creationId xmlns:a16="http://schemas.microsoft.com/office/drawing/2014/main" id="{60E496A2-3136-38A6-5AD8-7CE40C86A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>
            <a:extLst>
              <a:ext uri="{FF2B5EF4-FFF2-40B4-BE49-F238E27FC236}">
                <a16:creationId xmlns:a16="http://schemas.microsoft.com/office/drawing/2014/main" id="{F21A014B-1480-6E4D-F771-B7B848B918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>
            <a:extLst>
              <a:ext uri="{FF2B5EF4-FFF2-40B4-BE49-F238E27FC236}">
                <a16:creationId xmlns:a16="http://schemas.microsoft.com/office/drawing/2014/main" id="{3D191B35-2B68-D582-260B-7BE41A591842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9326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569A-28A5-4B9F-1A30-3B2B7094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>
            <a:extLst>
              <a:ext uri="{FF2B5EF4-FFF2-40B4-BE49-F238E27FC236}">
                <a16:creationId xmlns:a16="http://schemas.microsoft.com/office/drawing/2014/main" id="{BC12B0E3-7C13-6DFD-2822-32E5BD318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>
            <a:extLst>
              <a:ext uri="{FF2B5EF4-FFF2-40B4-BE49-F238E27FC236}">
                <a16:creationId xmlns:a16="http://schemas.microsoft.com/office/drawing/2014/main" id="{E42637D8-9562-A292-B68F-B7A98DF72E2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>
            <a:extLst>
              <a:ext uri="{FF2B5EF4-FFF2-40B4-BE49-F238E27FC236}">
                <a16:creationId xmlns:a16="http://schemas.microsoft.com/office/drawing/2014/main" id="{B5A78DFA-ABA1-1D66-7CAA-B0151F82D7C6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8488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237B0F-367B-4296-8419-528100AB9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82B0ED-82CF-4C05-91D8-BFB1BF7EA3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03C528-515D-4977-8BE1-6309ABB08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462C21-E858-415E-9FBA-DC9209DCDE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E81698-7E96-44AA-A3BE-0245F5900E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A95064-B283-4437-8316-94C9E9A071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204DE9-66EF-4013-B4E0-6329988EE4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5E0BC9-C67D-4585-A775-95F3742784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09E83E-204A-4043-A2BB-014539ED1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DB90B-DF54-448F-8992-E80F2E7416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F800DD-F8B0-456A-8799-66DAC426E5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8B93CB-0380-43A2-81D0-D45E9C5A4D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7C2206-6455-49F7-BA59-718522E14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0" y="0"/>
            <a:ext cx="3474000" cy="5142960"/>
          </a:xfrm>
          <a:prstGeom prst="rect">
            <a:avLst/>
          </a:prstGeom>
          <a:solidFill>
            <a:srgbClr val="19376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3"/>
          <a:stretch/>
        </p:blipFill>
        <p:spPr>
          <a:xfrm>
            <a:off x="6400800" y="1463040"/>
            <a:ext cx="2102400" cy="21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548640" y="1188720"/>
            <a:ext cx="50284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48640" y="214884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Incident Response Simulator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548640" y="2697480"/>
            <a:ext cx="1370880" cy="36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48640" y="288036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Projektová dokumentácia, návrh VR/XR aplikácie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48640" y="324612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Predmet: Systémy virtuálnej a zmiešanej reality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48640" y="38862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Šimon Škreko  |  Matúš Horváth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48640" y="41605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UCM Trnava, Aplikovaná informatika, 1. ročník Bc.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48640" y="46177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Apríl 2026  |  v1.4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Čo je CyberLab XR?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Virtuálny Security Operations Centre pre výuku kybernetickej bezpečnosti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457200" y="1280160"/>
            <a:ext cx="8228880" cy="822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7B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31520" y="1325880"/>
            <a:ext cx="768024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Študent „fyzicky sedí" vo virtuálnom SOC, rieši živý kyberútok s tímom, pod časovým tlakom, so simulovanými nástrojmi, ktoré sa používajú aj v reálnej praxi.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5720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preencoded.png"/>
          <p:cNvPicPr/>
          <p:nvPr/>
        </p:nvPicPr>
        <p:blipFill>
          <a:blip r:embed="rId3"/>
          <a:stretch/>
        </p:blipFill>
        <p:spPr>
          <a:xfrm>
            <a:off x="150876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54864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Realistické scenáre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4008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5 typov incidentov: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Ransomware, Phishing, DDoS, Insider, SQL Injection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324612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324612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preencoded.png"/>
          <p:cNvPicPr/>
          <p:nvPr/>
        </p:nvPicPr>
        <p:blipFill>
          <a:blip r:embed="rId4"/>
          <a:stretch/>
        </p:blipFill>
        <p:spPr>
          <a:xfrm>
            <a:off x="429768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333756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Tímová spolupráca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342900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Dvaja až štyria študenti, každý s inou rolou v SOC v reálnom čase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03504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03504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2" descr="preencoded.png"/>
          <p:cNvPicPr/>
          <p:nvPr/>
        </p:nvPicPr>
        <p:blipFill>
          <a:blip r:embed="rId5"/>
          <a:stretch/>
        </p:blipFill>
        <p:spPr>
          <a:xfrm>
            <a:off x="708660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612648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Vzdelávací výstup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621792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Debriefing, replay útoku, individuálne hodnotenie, export reportu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Ciele projektu a výber témy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chceme dosiahnuť a prečo práve túto tému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57200" y="1280160"/>
            <a:ext cx="72360" cy="35197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3"/>
          <a:stretch/>
        </p:blipFill>
        <p:spPr>
          <a:xfrm>
            <a:off x="68580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114300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Ciele projektu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85800" y="1920240"/>
            <a:ext cx="3656880" cy="27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Navrhnúť architektúru XR simulátora bezpečnostných incidentov.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Definovať VR/XR subsystémy potrebné pre prostredie SOC.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Špecifikovať 5 scenárov s workflowom pre každú rolu.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Vytvoriť popis prototypu a projektovú dokumentáciu.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Prístupné riešenie bez vysokej hardvérovej bariéry.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MoSCoW prioritizácia a realistický roadmap vývoja.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663440" y="1280160"/>
            <a:ext cx="72360" cy="35197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4"/>
          <a:stretch/>
        </p:blipFill>
        <p:spPr>
          <a:xfrm>
            <a:off x="489204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1"/>
          <p:cNvSpPr/>
          <p:nvPr/>
        </p:nvSpPr>
        <p:spPr>
          <a:xfrm>
            <a:off x="534924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Zdôvodnenie výberu témy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892040" y="1920240"/>
            <a:ext cx="3656880" cy="27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Priesečník troch oblastí: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kyberbezpečnosť, vzdelávanie, imerzívne technológie.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Medzera na trhu: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existujúce platformy sú 2D, reálny SOC je priestorový.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Zapadá do sylabu: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využíva vizualizačný, kinematický, akustický a interakčný podsystém.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Aktuálny problém: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podľa ENISA chýbajú v Európe stovky tisíc špecialistov na kyberbezpečnosť.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 podľa cieľovej skupiny – rôzna obtiažnosť, zameranie a herný aspekt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457200" y="1234440"/>
            <a:ext cx="4022640" cy="14623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/>
          <p:cNvPicPr/>
          <p:nvPr/>
        </p:nvPicPr>
        <p:blipFill>
          <a:blip r:embed="rId3"/>
          <a:stretch/>
        </p:blipFill>
        <p:spPr>
          <a:xfrm>
            <a:off x="64008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/>
          <p:cNvSpPr/>
          <p:nvPr/>
        </p:nvSpPr>
        <p:spPr>
          <a:xfrm>
            <a:off x="1234440" y="13899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Stredné školy – EXPLORER MODE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685800" y="19659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Najjednoduchší režim s výrazným herným aspektom. Zjednodušené scenáre, kroková výuka s nápoveďou, vlastný maskot CyberLab sprievodca, gamifikácia (XP, odznaky). Cieľ: vzbudiť záujem o kybernetickú bezpečnosť.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663440" y="1234440"/>
            <a:ext cx="4022640" cy="146232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/>
          <p:cNvSpPr/>
          <p:nvPr/>
        </p:nvSpPr>
        <p:spPr>
          <a:xfrm>
            <a:off x="5440680" y="13899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Vysoké školy – ANALYST MODE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892040" y="19659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Pokročilý režim bez maskota. Detailnejšie scenáre, hlbšia analýza logov, plnohodnotný SIEM panel, tímové role. Hrateľnosť ostáva dôležitým faktorom obtiažnosti. Bc./Mgr. informatika, kybernetická bezpečnosť.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457200" y="2834640"/>
            <a:ext cx="4022640" cy="14623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2" descr="preencoded.png"/>
          <p:cNvPicPr/>
          <p:nvPr/>
        </p:nvPicPr>
        <p:blipFill>
          <a:blip r:embed="rId5"/>
          <a:stretch/>
        </p:blipFill>
        <p:spPr>
          <a:xfrm>
            <a:off x="640080" y="30175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/>
          <p:cNvSpPr/>
          <p:nvPr/>
        </p:nvSpPr>
        <p:spPr>
          <a:xfrm>
            <a:off x="1234440" y="29901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Firmy a SOC tímy – PRO MODE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685800" y="35661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Najvyšší dôraz na náučný výstup a presnosť scenárov. Simulované nástroje verné realite (Splunk, Wireshark, nmap). Herný aspekt potlačený, hodnotenie podľa profesionálnych štandardov (NIST, MITRE ATT&amp;CK). Onboarding SOC analytikov.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663440" y="2834640"/>
            <a:ext cx="4022640" cy="146232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3" descr="preencoded.png"/>
          <p:cNvPicPr/>
          <p:nvPr/>
        </p:nvPicPr>
        <p:blipFill>
          <a:blip r:embed="rId6"/>
          <a:stretch/>
        </p:blipFill>
        <p:spPr>
          <a:xfrm>
            <a:off x="4846320" y="30175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5"/>
          <p:cNvSpPr/>
          <p:nvPr/>
        </p:nvSpPr>
        <p:spPr>
          <a:xfrm>
            <a:off x="5440680" y="29901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Maskot &amp; Personalizácia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4892040" y="35661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Explorer Mode predstaví maskota „CyByte“ – priateľského robotického strážcu siete. Sprievodca vysvetľuje pojmy, dáva nápovedy a motivuje. Analyst a Pro Mode ho neobsahujú – zachovávajú profesionálny charakter prostredia.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4A84-7FB2-8053-7B55-7A55F090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6505F7C5-B8F5-E6D8-427D-C43411DD4CDE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63415CF6-D7E6-8FE5-58B5-CE5C1640499A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8EC3BC07-F686-488A-C2AC-6E1BAE30DA25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898BC8A4-E055-77E7-ADEB-9AE170723A8C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2BEA7B39-75F9-D458-B01F-D3A5A3594B5C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solidFill>
                  <a:srgbClr val="0B2447"/>
                </a:solidFill>
                <a:ea typeface="Calibri"/>
              </a:rPr>
              <a:t>Stredné</a:t>
            </a:r>
            <a:r>
              <a:rPr lang="en-US" b="1" dirty="0">
                <a:solidFill>
                  <a:srgbClr val="0B2447"/>
                </a:solidFill>
                <a:ea typeface="Calibri"/>
              </a:rPr>
              <a:t> </a:t>
            </a:r>
            <a:r>
              <a:rPr lang="en-US" b="1" dirty="0" err="1">
                <a:solidFill>
                  <a:srgbClr val="0B2447"/>
                </a:solidFill>
                <a:ea typeface="Calibri"/>
              </a:rPr>
              <a:t>školy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FB9818B-29D7-B638-6C8A-556B394A2795}"/>
              </a:ext>
            </a:extLst>
          </p:cNvPr>
          <p:cNvSpPr/>
          <p:nvPr/>
        </p:nvSpPr>
        <p:spPr>
          <a:xfrm>
            <a:off x="457200" y="1216080"/>
            <a:ext cx="2064327" cy="7405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AD990409-31D7-0C19-285F-8965308CE2D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33234" y="1188720"/>
            <a:ext cx="512258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C3542-24FC-D5E5-2C0C-F0C8A9BAABB3}"/>
              </a:ext>
            </a:extLst>
          </p:cNvPr>
          <p:cNvSpPr/>
          <p:nvPr/>
        </p:nvSpPr>
        <p:spPr>
          <a:xfrm>
            <a:off x="457200" y="1538547"/>
            <a:ext cx="2064327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EXPLORER MODE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B8557717-CCC2-8035-F01B-997A438E6CA1}"/>
              </a:ext>
            </a:extLst>
          </p:cNvPr>
          <p:cNvSpPr/>
          <p:nvPr/>
        </p:nvSpPr>
        <p:spPr>
          <a:xfrm>
            <a:off x="1808018" y="1910520"/>
            <a:ext cx="2534662" cy="74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3" descr="preencoded.png">
            <a:extLst>
              <a:ext uri="{FF2B5EF4-FFF2-40B4-BE49-F238E27FC236}">
                <a16:creationId xmlns:a16="http://schemas.microsoft.com/office/drawing/2014/main" id="{75B9F664-01B4-AD2A-841A-362466AA666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768910" y="339940"/>
            <a:ext cx="1110774" cy="9580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7">
            <a:extLst>
              <a:ext uri="{FF2B5EF4-FFF2-40B4-BE49-F238E27FC236}">
                <a16:creationId xmlns:a16="http://schemas.microsoft.com/office/drawing/2014/main" id="{E2A13A26-718F-20A0-1AB7-9F4B0D8E2E86}"/>
              </a:ext>
            </a:extLst>
          </p:cNvPr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73860C2D-CC22-BD14-BB7F-B713949307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561" y="339940"/>
            <a:ext cx="3716192" cy="46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7ECC-8387-ECD9-906A-7EF858BB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4EE0DB82-FE05-F07D-5008-E2A2BFFC4AE0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697366FC-0466-6EA9-39A4-7B1994115B50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8BA45D09-C42D-822B-D5E7-651DDB81AE0F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260DF8C3-192D-8264-6666-1C3ECD451CAB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F84C1205-B8C8-8D15-FE66-CBB21B89D864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solidFill>
                  <a:srgbClr val="0B2447"/>
                </a:solidFill>
                <a:ea typeface="Calibri"/>
              </a:rPr>
              <a:t>Vysoké</a:t>
            </a:r>
            <a:r>
              <a:rPr lang="en-US" b="1" dirty="0">
                <a:solidFill>
                  <a:srgbClr val="0B2447"/>
                </a:solidFill>
                <a:ea typeface="Calibri"/>
              </a:rPr>
              <a:t> </a:t>
            </a:r>
            <a:r>
              <a:rPr lang="en-US" b="1" dirty="0" err="1">
                <a:solidFill>
                  <a:srgbClr val="0B2447"/>
                </a:solidFill>
                <a:ea typeface="Calibri"/>
              </a:rPr>
              <a:t>školy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8DEF66B7-DE8F-72D5-1CE0-AAE3B451732B}"/>
              </a:ext>
            </a:extLst>
          </p:cNvPr>
          <p:cNvSpPr/>
          <p:nvPr/>
        </p:nvSpPr>
        <p:spPr>
          <a:xfrm>
            <a:off x="457200" y="1368967"/>
            <a:ext cx="1766455" cy="705556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>
            <a:extLst>
              <a:ext uri="{FF2B5EF4-FFF2-40B4-BE49-F238E27FC236}">
                <a16:creationId xmlns:a16="http://schemas.microsoft.com/office/drawing/2014/main" id="{6F6C2C1E-1EC0-0552-827C-9B71B6527DA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1131" y="1427647"/>
            <a:ext cx="456480" cy="4038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>
            <a:extLst>
              <a:ext uri="{FF2B5EF4-FFF2-40B4-BE49-F238E27FC236}">
                <a16:creationId xmlns:a16="http://schemas.microsoft.com/office/drawing/2014/main" id="{0DECB47C-7271-C4FC-0D11-D0234A3A1BE2}"/>
              </a:ext>
            </a:extLst>
          </p:cNvPr>
          <p:cNvSpPr/>
          <p:nvPr/>
        </p:nvSpPr>
        <p:spPr>
          <a:xfrm>
            <a:off x="457200" y="1721745"/>
            <a:ext cx="1766455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ANALYST MODE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3BBF0AA3-73DF-73D2-9528-E41F3D132549}"/>
              </a:ext>
            </a:extLst>
          </p:cNvPr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B924CC0F-BEB8-39B6-57BB-79DC02D913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709" y="-171271"/>
            <a:ext cx="3976920" cy="4971151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56D2A6D5-9330-5A10-C78F-1EA762A9268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768910" y="339940"/>
            <a:ext cx="1110774" cy="95801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69018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CC69-D52B-BA75-DBF6-1F517CF7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5D775D30-6041-36EC-DE32-4610B9248F6C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6FA87A95-93FC-E16C-7B6D-E986C53B0E93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D62B88E5-BE77-C8F7-D073-BC9DA4BBFA4E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D212B424-E416-0CCB-C6F2-596CAADE9464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07CBCE4F-49A4-1079-4435-10B6252B4884}"/>
              </a:ext>
            </a:extLst>
          </p:cNvPr>
          <p:cNvSpPr/>
          <p:nvPr/>
        </p:nvSpPr>
        <p:spPr>
          <a:xfrm>
            <a:off x="609545" y="807873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solidFill>
                  <a:srgbClr val="0B2447"/>
                </a:solidFill>
                <a:ea typeface="Calibri"/>
              </a:rPr>
              <a:t>Firmy</a:t>
            </a:r>
            <a:r>
              <a:rPr lang="en-US" b="1" dirty="0">
                <a:solidFill>
                  <a:srgbClr val="0B2447"/>
                </a:solidFill>
                <a:ea typeface="Calibri"/>
              </a:rPr>
              <a:t> a SOC </a:t>
            </a:r>
            <a:r>
              <a:rPr lang="en-US" b="1" dirty="0" err="1">
                <a:solidFill>
                  <a:srgbClr val="0B2447"/>
                </a:solidFill>
                <a:ea typeface="Calibri"/>
              </a:rPr>
              <a:t>tímy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>
            <a:extLst>
              <a:ext uri="{FF2B5EF4-FFF2-40B4-BE49-F238E27FC236}">
                <a16:creationId xmlns:a16="http://schemas.microsoft.com/office/drawing/2014/main" id="{79B51B9E-0D76-188A-F3C1-5019EAD042DB}"/>
              </a:ext>
            </a:extLst>
          </p:cNvPr>
          <p:cNvSpPr/>
          <p:nvPr/>
        </p:nvSpPr>
        <p:spPr>
          <a:xfrm>
            <a:off x="609545" y="1359463"/>
            <a:ext cx="1738800" cy="725617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2" descr="preencoded.png">
            <a:extLst>
              <a:ext uri="{FF2B5EF4-FFF2-40B4-BE49-F238E27FC236}">
                <a16:creationId xmlns:a16="http://schemas.microsoft.com/office/drawing/2014/main" id="{A2642AE7-1960-9399-E72D-139EEFDF8DA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50705" y="1359463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>
            <a:extLst>
              <a:ext uri="{FF2B5EF4-FFF2-40B4-BE49-F238E27FC236}">
                <a16:creationId xmlns:a16="http://schemas.microsoft.com/office/drawing/2014/main" id="{53D94236-29A3-7551-381E-253FAD76767D}"/>
              </a:ext>
            </a:extLst>
          </p:cNvPr>
          <p:cNvSpPr/>
          <p:nvPr/>
        </p:nvSpPr>
        <p:spPr>
          <a:xfrm>
            <a:off x="609545" y="1749314"/>
            <a:ext cx="1738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PRO MODE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79EA8D76-0240-486E-65B8-8B06904B8F71}"/>
              </a:ext>
            </a:extLst>
          </p:cNvPr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1ED1181B-5677-9921-48DA-EBAC6A5822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782" y="72918"/>
            <a:ext cx="3742500" cy="4678126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2F66A66D-6E7C-0744-CA93-42D88DE839F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768910" y="339940"/>
            <a:ext cx="1110774" cy="95801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49508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Prečo práve XR?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pridáva priestorový zážitok oproti 2D terminálu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594360" y="13716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Dnešné platformy (2D terminál)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preencoded.png"/>
          <p:cNvPicPr/>
          <p:nvPr/>
        </p:nvPicPr>
        <p:blipFill>
          <a:blip r:embed="rId3"/>
          <a:stretch/>
        </p:blipFill>
        <p:spPr>
          <a:xfrm>
            <a:off x="640080" y="19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7"/>
          <p:cNvSpPr/>
          <p:nvPr/>
        </p:nvSpPr>
        <p:spPr>
          <a:xfrm>
            <a:off x="960120" y="18745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TryHackMe, HackTheBox, text a terminál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3"/>
          <a:stretch/>
        </p:blipFill>
        <p:spPr>
          <a:xfrm>
            <a:off x="640080" y="2459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8"/>
          <p:cNvSpPr/>
          <p:nvPr/>
        </p:nvSpPr>
        <p:spPr>
          <a:xfrm>
            <a:off x="960120" y="240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Žiadna priestorová orientácia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640080" y="2990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9"/>
          <p:cNvSpPr/>
          <p:nvPr/>
        </p:nvSpPr>
        <p:spPr>
          <a:xfrm>
            <a:off x="960120" y="2935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Chýba situational awareness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3" descr="preencoded.png"/>
          <p:cNvPicPr/>
          <p:nvPr/>
        </p:nvPicPr>
        <p:blipFill>
          <a:blip r:embed="rId3"/>
          <a:stretch/>
        </p:blipFill>
        <p:spPr>
          <a:xfrm>
            <a:off x="640080" y="352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0"/>
          <p:cNvSpPr/>
          <p:nvPr/>
        </p:nvSpPr>
        <p:spPr>
          <a:xfrm>
            <a:off x="960120" y="3465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Tímová koordinácia len cez chat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4" descr="preencoded.png"/>
          <p:cNvPicPr/>
          <p:nvPr/>
        </p:nvPicPr>
        <p:blipFill>
          <a:blip r:embed="rId3"/>
          <a:stretch/>
        </p:blipFill>
        <p:spPr>
          <a:xfrm>
            <a:off x="640080" y="40507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11"/>
          <p:cNvSpPr/>
          <p:nvPr/>
        </p:nvSpPr>
        <p:spPr>
          <a:xfrm>
            <a:off x="960120" y="39960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Nie je pocit z reálneho SOC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4800600" y="13716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CyberLab XR, priestorový SOC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5" descr="preencoded.png"/>
          <p:cNvPicPr/>
          <p:nvPr/>
        </p:nvPicPr>
        <p:blipFill>
          <a:blip r:embed="rId4"/>
          <a:stretch/>
        </p:blipFill>
        <p:spPr>
          <a:xfrm>
            <a:off x="4846320" y="19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4"/>
          <p:cNvSpPr/>
          <p:nvPr/>
        </p:nvSpPr>
        <p:spPr>
          <a:xfrm>
            <a:off x="5166360" y="18745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monitory, servery, logy okolo používateľa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6" descr="preencoded.png"/>
          <p:cNvPicPr/>
          <p:nvPr/>
        </p:nvPicPr>
        <p:blipFill>
          <a:blip r:embed="rId4"/>
          <a:stretch/>
        </p:blipFill>
        <p:spPr>
          <a:xfrm>
            <a:off x="4846320" y="2459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5"/>
          <p:cNvSpPr/>
          <p:nvPr/>
        </p:nvSpPr>
        <p:spPr>
          <a:xfrm>
            <a:off x="5166360" y="240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Priestorová orientácia = situational awareness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7" descr="preencoded.png"/>
          <p:cNvPicPr/>
          <p:nvPr/>
        </p:nvPicPr>
        <p:blipFill>
          <a:blip r:embed="rId4"/>
          <a:stretch/>
        </p:blipFill>
        <p:spPr>
          <a:xfrm>
            <a:off x="4846320" y="2990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6"/>
          <p:cNvSpPr/>
          <p:nvPr/>
        </p:nvSpPr>
        <p:spPr>
          <a:xfrm>
            <a:off x="5166360" y="2935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Vizualizácia útoku ako 3D sieťový graf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8" descr="preencoded.png"/>
          <p:cNvPicPr/>
          <p:nvPr/>
        </p:nvPicPr>
        <p:blipFill>
          <a:blip r:embed="rId4"/>
          <a:stretch/>
        </p:blipFill>
        <p:spPr>
          <a:xfrm>
            <a:off x="4846320" y="352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7"/>
          <p:cNvSpPr/>
          <p:nvPr/>
        </p:nvSpPr>
        <p:spPr>
          <a:xfrm>
            <a:off x="5166360" y="3465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Tímová VR session v reálnom čase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9" descr="preencoded.png"/>
          <p:cNvPicPr/>
          <p:nvPr/>
        </p:nvPicPr>
        <p:blipFill>
          <a:blip r:embed="rId4"/>
          <a:stretch/>
        </p:blipFill>
        <p:spPr>
          <a:xfrm>
            <a:off x="4846320" y="40507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8"/>
          <p:cNvSpPr/>
          <p:nvPr/>
        </p:nvSpPr>
        <p:spPr>
          <a:xfrm>
            <a:off x="5166360" y="39960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Nástroje: Wireshark, Splunk, nmap v 3D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Technická architektúra, VR/XR subsystémy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Každý subsystém má konkrétnu funkciu v simulátore SOC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457200" y="1280160"/>
            <a:ext cx="4022640" cy="159948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3"/>
          <a:stretch/>
        </p:blipFill>
        <p:spPr>
          <a:xfrm>
            <a:off x="640080" y="1463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6"/>
          <p:cNvSpPr/>
          <p:nvPr/>
        </p:nvSpPr>
        <p:spPr>
          <a:xfrm>
            <a:off x="1234440" y="14630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Vizualizačný podsystém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685800" y="196596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Stereoskopické renderovanie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72 – 120 fps (Meta Quest 3 / 3S)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Foveated rendering, URP (Quest) / OpenXR runtime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663440" y="1280160"/>
            <a:ext cx="4022640" cy="1599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63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9"/>
          <p:cNvSpPr/>
          <p:nvPr/>
        </p:nvSpPr>
        <p:spPr>
          <a:xfrm>
            <a:off x="5440680" y="14630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Kinematický podsystém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4892040" y="196596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tracking hlavy a rúk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Hand tracking bez ovládačov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Teleportácia alebo smooth locomotion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457200" y="3017520"/>
            <a:ext cx="4022640" cy="159948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5"/>
          <a:stretch/>
        </p:blipFill>
        <p:spPr>
          <a:xfrm>
            <a:off x="640080" y="3200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2"/>
          <p:cNvSpPr/>
          <p:nvPr/>
        </p:nvSpPr>
        <p:spPr>
          <a:xfrm>
            <a:off x="1234440" y="32004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Akustický podsystém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685800" y="370332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spatial audio pre alerty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Priestorový voice chat tímu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Ambisonics, atmosféra SOC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4663440" y="3017520"/>
            <a:ext cx="4022640" cy="159948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6"/>
          <a:stretch/>
        </p:blipFill>
        <p:spPr>
          <a:xfrm>
            <a:off x="4846320" y="3200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5"/>
          <p:cNvSpPr/>
          <p:nvPr/>
        </p:nvSpPr>
        <p:spPr>
          <a:xfrm>
            <a:off x="5440680" y="32004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Simulačný engine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4892040" y="370332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JSON scenáre incidentov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SIEM logy (Splunk, QRadar)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Scoring a debriefing recorder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Virtuálny SOC priestor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Priestorové usporiadanie monitorov, staníc a dashboardov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57200" y="1280160"/>
            <a:ext cx="49370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57200" y="137160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Virtuálny SOC, pohľad zhora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2240280" y="3291840"/>
            <a:ext cx="1370880" cy="1005120"/>
          </a:xfrm>
          <a:prstGeom prst="ellipse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2240280" y="329184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685800" y="182880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685800" y="182880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SIEM Panel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160020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160020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Map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"/>
          <p:cNvSpPr/>
          <p:nvPr/>
        </p:nvSpPr>
        <p:spPr>
          <a:xfrm>
            <a:off x="265176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265176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 Viewer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370332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370332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Ticket System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4572000" y="182880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4572000" y="182880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Team Status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 flipH="1" flipV="1">
            <a:off x="1188720" y="2377440"/>
            <a:ext cx="1737360" cy="91440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0"/>
          <p:cNvSpPr/>
          <p:nvPr/>
        </p:nvSpPr>
        <p:spPr>
          <a:xfrm flipH="1" flipV="1">
            <a:off x="2103120" y="2240280"/>
            <a:ext cx="82296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 flipV="1">
            <a:off x="2926080" y="2240280"/>
            <a:ext cx="22860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2"/>
          <p:cNvSpPr/>
          <p:nvPr/>
        </p:nvSpPr>
        <p:spPr>
          <a:xfrm flipV="1">
            <a:off x="2926080" y="2240280"/>
            <a:ext cx="128016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 flipV="1">
            <a:off x="2926080" y="2377440"/>
            <a:ext cx="2148840" cy="91440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4"/>
          <p:cNvSpPr/>
          <p:nvPr/>
        </p:nvSpPr>
        <p:spPr>
          <a:xfrm>
            <a:off x="5577840" y="1280160"/>
            <a:ext cx="3108240" cy="3519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5715000" y="141732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Kľúčové vlastnosti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6"/>
          <p:cNvSpPr/>
          <p:nvPr/>
        </p:nvSpPr>
        <p:spPr>
          <a:xfrm>
            <a:off x="5760720" y="20574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7"/>
          <p:cNvSpPr/>
          <p:nvPr/>
        </p:nvSpPr>
        <p:spPr>
          <a:xfrm>
            <a:off x="5943600" y="196596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 Quest 3 ako primárna platforma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8"/>
          <p:cNvSpPr/>
          <p:nvPr/>
        </p:nvSpPr>
        <p:spPr>
          <a:xfrm>
            <a:off x="5760720" y="249624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9"/>
          <p:cNvSpPr/>
          <p:nvPr/>
        </p:nvSpPr>
        <p:spPr>
          <a:xfrm>
            <a:off x="5943600" y="240480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PC VR cez SteamVR OpenXR runtime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0"/>
          <p:cNvSpPr/>
          <p:nvPr/>
        </p:nvSpPr>
        <p:spPr>
          <a:xfrm>
            <a:off x="5760720" y="293508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1"/>
          <p:cNvSpPr/>
          <p:nvPr/>
        </p:nvSpPr>
        <p:spPr>
          <a:xfrm>
            <a:off x="5943600" y="28436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6DoF tracking a hand tracking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2"/>
          <p:cNvSpPr/>
          <p:nvPr/>
        </p:nvSpPr>
        <p:spPr>
          <a:xfrm>
            <a:off x="5760720" y="337428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3"/>
          <p:cNvSpPr/>
          <p:nvPr/>
        </p:nvSpPr>
        <p:spPr>
          <a:xfrm>
            <a:off x="5943600" y="32828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Teleportácia medzi stanicami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4"/>
          <p:cNvSpPr/>
          <p:nvPr/>
        </p:nvSpPr>
        <p:spPr>
          <a:xfrm>
            <a:off x="576072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5"/>
          <p:cNvSpPr/>
          <p:nvPr/>
        </p:nvSpPr>
        <p:spPr>
          <a:xfrm>
            <a:off x="5943600" y="372168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Shared state pre celý tím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6"/>
          <p:cNvSpPr/>
          <p:nvPr/>
        </p:nvSpPr>
        <p:spPr>
          <a:xfrm>
            <a:off x="5760720" y="425196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7"/>
          <p:cNvSpPr/>
          <p:nvPr/>
        </p:nvSpPr>
        <p:spPr>
          <a:xfrm>
            <a:off x="5943600" y="41605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Interakcia s Alert Cards v 3D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5 scenárov bezpečnostných incidentov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Každý scenár má vlastnú časovú os, logy, role a hodnotenie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457200" y="1280160"/>
            <a:ext cx="1599480" cy="246816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3"/>
          <a:stretch/>
        </p:blipFill>
        <p:spPr>
          <a:xfrm>
            <a:off x="102888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6"/>
          <p:cNvSpPr/>
          <p:nvPr/>
        </p:nvSpPr>
        <p:spPr>
          <a:xfrm>
            <a:off x="50292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Ransomware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54864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Šifrovanie dát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Port scan → SSH BF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Malware → Encrypt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2148840" y="1280160"/>
            <a:ext cx="1599480" cy="246816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4"/>
          <a:stretch/>
        </p:blipFill>
        <p:spPr>
          <a:xfrm>
            <a:off x="272052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9"/>
          <p:cNvSpPr/>
          <p:nvPr/>
        </p:nvSpPr>
        <p:spPr>
          <a:xfrm>
            <a:off x="219456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Phishing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224028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150+ phish emailov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8 kompromitovaných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účtov, exfiltrácia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3840480" y="1280160"/>
            <a:ext cx="1599480" cy="2468160"/>
          </a:xfrm>
          <a:prstGeom prst="rect">
            <a:avLst/>
          </a:prstGeom>
          <a:solidFill>
            <a:srgbClr val="FED7AA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2" descr="preencoded.png"/>
          <p:cNvPicPr/>
          <p:nvPr/>
        </p:nvPicPr>
        <p:blipFill>
          <a:blip r:embed="rId5"/>
          <a:stretch/>
        </p:blipFill>
        <p:spPr>
          <a:xfrm>
            <a:off x="441216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2"/>
          <p:cNvSpPr/>
          <p:nvPr/>
        </p:nvSpPr>
        <p:spPr>
          <a:xfrm>
            <a:off x="388620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DDoS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393192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50k req/s na server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WAF aktivácia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botnet filtrovanie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5532120" y="1280160"/>
            <a:ext cx="1599480" cy="2468160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3" descr="preencoded.png"/>
          <p:cNvPicPr/>
          <p:nvPr/>
        </p:nvPicPr>
        <p:blipFill>
          <a:blip r:embed="rId6"/>
          <a:stretch/>
        </p:blipFill>
        <p:spPr>
          <a:xfrm>
            <a:off x="610380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5"/>
          <p:cNvSpPr/>
          <p:nvPr/>
        </p:nvSpPr>
        <p:spPr>
          <a:xfrm>
            <a:off x="557784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Insider Threat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62356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Prístup o 2:30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 staging 2,3 GB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exfiltrácia na Drive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7223760" y="1280160"/>
            <a:ext cx="1599480" cy="246816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4" descr="preencoded.png"/>
          <p:cNvPicPr/>
          <p:nvPr/>
        </p:nvPicPr>
        <p:blipFill>
          <a:blip r:embed="rId7"/>
          <a:stretch/>
        </p:blipFill>
        <p:spPr>
          <a:xfrm>
            <a:off x="779544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8"/>
          <p:cNvSpPr/>
          <p:nvPr/>
        </p:nvSpPr>
        <p:spPr>
          <a:xfrm>
            <a:off x="726948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SQL Injection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731520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SQL v URL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5 200 účtov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exfiltrácia z DB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457200" y="3977640"/>
            <a:ext cx="8228880" cy="7765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640080" y="402336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Role v každom scenári: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640080" y="4297680"/>
            <a:ext cx="7863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ANALYST   |   FORENSICS SPECIALIST   |   INCIDENT HANDLER   |  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Scenár: Ransomware útok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Príklad detailného workflow, krok za krokom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1143000" y="1371600"/>
            <a:ext cx="593640" cy="5936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114300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5720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Port Scan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45720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Medium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182880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3246120" y="1371600"/>
            <a:ext cx="593640" cy="5936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324612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256032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Brute Force SSH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3"/>
          <p:cNvSpPr/>
          <p:nvPr/>
        </p:nvSpPr>
        <p:spPr>
          <a:xfrm>
            <a:off x="256032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High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393192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5349240" y="1371600"/>
            <a:ext cx="593640" cy="5936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6"/>
          <p:cNvSpPr/>
          <p:nvPr/>
        </p:nvSpPr>
        <p:spPr>
          <a:xfrm>
            <a:off x="534924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7"/>
          <p:cNvSpPr/>
          <p:nvPr/>
        </p:nvSpPr>
        <p:spPr>
          <a:xfrm>
            <a:off x="466344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Malware Injection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8"/>
          <p:cNvSpPr/>
          <p:nvPr/>
        </p:nvSpPr>
        <p:spPr>
          <a:xfrm>
            <a:off x="466344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Critical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603504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"/>
          <p:cNvSpPr/>
          <p:nvPr/>
        </p:nvSpPr>
        <p:spPr>
          <a:xfrm>
            <a:off x="7452360" y="1371600"/>
            <a:ext cx="593640" cy="5936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745236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2"/>
          <p:cNvSpPr/>
          <p:nvPr/>
        </p:nvSpPr>
        <p:spPr>
          <a:xfrm>
            <a:off x="676656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File Encryption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3"/>
          <p:cNvSpPr/>
          <p:nvPr/>
        </p:nvSpPr>
        <p:spPr>
          <a:xfrm>
            <a:off x="676656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Critical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Table 0"/>
          <p:cNvGraphicFramePr/>
          <p:nvPr/>
        </p:nvGraphicFramePr>
        <p:xfrm>
          <a:off x="457200" y="2834640"/>
          <a:ext cx="8229600" cy="1737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Rola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Hlavná úloha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Nástroje v SOC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ANALYST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Detekuje alerty, klasifikuje typ útoku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SIEM Panel, Alert Cards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FORENSICS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Analyzuje logy, rekonštruuje stopu útočníka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 Viewer, Timeline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INC. HANDLER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Izoluje napadnuté zariadenia, zastavuje šírenie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Network Map, Firewall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Resetuje heslá, obnovuje systém zo zálohy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Ticket System, Backup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Systém hodnotenia a debriefing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Ako sa meria výkon a čo dostane študent po skončení simulácie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45720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45720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45720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30 %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54864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Rýchlosť detekcie (MTTD)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9436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Čas od prvého alertu po identifikáciu incidentu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324612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324612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324612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40 %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333756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Správnosť rozhodnutí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338328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Percento správnych akcií počas celého incidentu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603504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603504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603504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30 %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612648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Minimalizácia škôd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617220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Koľko systémov a dát bolo zachránených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457200" y="3200400"/>
            <a:ext cx="8228880" cy="159948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457200" y="3200400"/>
            <a:ext cx="72360" cy="159948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685800" y="329184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Debriefing mód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82296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1024200" y="3703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3D replay útoku na Network 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84632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5047560" y="3703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Zelené a červené značky rozhodnutí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822960" y="42246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8"/>
          <p:cNvSpPr/>
          <p:nvPr/>
        </p:nvSpPr>
        <p:spPr>
          <a:xfrm>
            <a:off x="1024200" y="41148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Individuálne hodnotenie pre každú rolu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4846320" y="42246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5047560" y="41148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Časová os celého incidentu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822960" y="44805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Export debriefing reportu ako PDF pre hodnotenie učiteľom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Porovnanie s existujúcimi platformami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Prečo žiadna iná platforma nerieši rovnaký problém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8" name="Table 0"/>
          <p:cNvGraphicFramePr/>
          <p:nvPr/>
        </p:nvGraphicFramePr>
        <p:xfrm>
          <a:off x="457200" y="1280160"/>
          <a:ext cx="8228880" cy="2366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Platforma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VR/XR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Sim. inc.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Tím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SK/CZ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Školy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0284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CyberLab XR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TryHackMe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HackTheBox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Cyberbit Range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CyberStrike VR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SANS Cyber Ranges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9" name="Shape 5"/>
          <p:cNvSpPr/>
          <p:nvPr/>
        </p:nvSpPr>
        <p:spPr>
          <a:xfrm>
            <a:off x="457200" y="4114800"/>
            <a:ext cx="8228880" cy="68508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640080" y="4160520"/>
            <a:ext cx="78631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Prečo tieto platformy? </a:t>
            </a: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Reprezentujú rôzne kategórie: web laby (TryHackMe, HackTheBox), enterprise simulátory (Cyberbit), VR hry (CyberStrike) a prof. školenia (SANS). Immersive Labs a RangeForce sme vynechali, sú príliš podobné TryHackMe.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MoSCoW prioritizácia funkcionalít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musí byť v prvom vydaní a čo môže prísť neskôr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457200" y="1280160"/>
            <a:ext cx="4022640" cy="169092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457200" y="1280160"/>
            <a:ext cx="4022640" cy="34668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640080" y="1280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MUST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640080" y="169164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virtuálne SOC prostredie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Meta Quest 3 cez Unity 6.3 LTS + OpenXR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Jeden hrateľný scenár (Ransomware)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SIEM panel simulátor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tracking, raycast interakcie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Scoring a debriefing mód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4663440" y="1280160"/>
            <a:ext cx="4022640" cy="16909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4663440" y="1280160"/>
            <a:ext cx="4022640" cy="346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1"/>
          <p:cNvSpPr/>
          <p:nvPr/>
        </p:nvSpPr>
        <p:spPr>
          <a:xfrm>
            <a:off x="4846320" y="1280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SHOULD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4846320" y="169164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Tri režimy: Explorer / Analyst / Pro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Tímový mód 2 až 4 hráči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Role systém (Analyst, Forensics, Handler, Admin)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spatial audio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SK/CZ lokalizácia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Companion režim pre tablety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3"/>
          <p:cNvSpPr/>
          <p:nvPr/>
        </p:nvSpPr>
        <p:spPr>
          <a:xfrm>
            <a:off x="457200" y="3063240"/>
            <a:ext cx="4022640" cy="1690920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457200" y="3063240"/>
            <a:ext cx="402264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5"/>
          <p:cNvSpPr/>
          <p:nvPr/>
        </p:nvSpPr>
        <p:spPr>
          <a:xfrm>
            <a:off x="640080" y="30632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COULD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6"/>
          <p:cNvSpPr/>
          <p:nvPr/>
        </p:nvSpPr>
        <p:spPr>
          <a:xfrm>
            <a:off x="640080" y="347472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 mód (OpenXR kompatibilné zariadenia)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Eye tracking + foveated rendering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Editor vlastných scenárov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LMS integrácia (Moodle, Canvas)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Leaderboard medzi školami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7"/>
          <p:cNvSpPr/>
          <p:nvPr/>
        </p:nvSpPr>
        <p:spPr>
          <a:xfrm>
            <a:off x="4663440" y="3063240"/>
            <a:ext cx="4022640" cy="1690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4663440" y="3063240"/>
            <a:ext cx="4022640" cy="3466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9"/>
          <p:cNvSpPr/>
          <p:nvPr/>
        </p:nvSpPr>
        <p:spPr>
          <a:xfrm>
            <a:off x="4846320" y="30632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WON'T HAVE (táto fáza)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0"/>
          <p:cNvSpPr/>
          <p:nvPr/>
        </p:nvSpPr>
        <p:spPr>
          <a:xfrm>
            <a:off x="4846320" y="347472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Autonómni AI protivníci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Integrácia s produkčnými SIEM (API)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Mobilná 2D verzia bez VR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Cloudový globálny multiplayer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Certifikačné testy (Security+, CEH)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Hardvér a XR technológie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Primárne headsety a doplnkové zariadenia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457200" y="1280160"/>
            <a:ext cx="2651040" cy="20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6"/>
          <p:cNvSpPr/>
          <p:nvPr/>
        </p:nvSpPr>
        <p:spPr>
          <a:xfrm>
            <a:off x="45720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0" descr="preencoded.png"/>
          <p:cNvPicPr/>
          <p:nvPr/>
        </p:nvPicPr>
        <p:blipFill>
          <a:blip r:embed="rId3"/>
          <a:stretch/>
        </p:blipFill>
        <p:spPr>
          <a:xfrm>
            <a:off x="64008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7"/>
          <p:cNvSpPr/>
          <p:nvPr/>
        </p:nvSpPr>
        <p:spPr>
          <a:xfrm>
            <a:off x="1097280" y="14173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1097280" y="1645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Primárna platforma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640080" y="1920240"/>
            <a:ext cx="237672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Standalone, bez PC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2064 x 2208 px/oko, 90 Hz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+ hand tracking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Snapdragon XR2 Gen 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3246120" y="1280160"/>
            <a:ext cx="2651040" cy="20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1"/>
          <p:cNvSpPr/>
          <p:nvPr/>
        </p:nvSpPr>
        <p:spPr>
          <a:xfrm>
            <a:off x="324612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1" descr="preencoded.png"/>
          <p:cNvPicPr/>
          <p:nvPr/>
        </p:nvPicPr>
        <p:blipFill>
          <a:blip r:embed="rId3"/>
          <a:stretch/>
        </p:blipFill>
        <p:spPr>
          <a:xfrm>
            <a:off x="342900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12"/>
          <p:cNvSpPr/>
          <p:nvPr/>
        </p:nvSpPr>
        <p:spPr>
          <a:xfrm>
            <a:off x="3886200" y="14173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3886200" y="1645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Kompatibilný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3429000" y="1920240"/>
            <a:ext cx="237672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Plná kompatibilita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Nižšia grafická kvalita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Dostupnejšia cena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Ideálny pre väčšie triedy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6035040" y="1280160"/>
            <a:ext cx="2651040" cy="20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603504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2" descr="preencoded.png"/>
          <p:cNvPicPr/>
          <p:nvPr/>
        </p:nvPicPr>
        <p:blipFill>
          <a:blip r:embed="rId4"/>
          <a:stretch/>
        </p:blipFill>
        <p:spPr>
          <a:xfrm>
            <a:off x="621792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7"/>
          <p:cNvSpPr/>
          <p:nvPr/>
        </p:nvSpPr>
        <p:spPr>
          <a:xfrm>
            <a:off x="6675120" y="14173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PC VR – SteamVR (OpenXR runtime)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6675120" y="1645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Pokročilý mód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9"/>
          <p:cNvSpPr/>
          <p:nvPr/>
        </p:nvSpPr>
        <p:spPr>
          <a:xfrm>
            <a:off x="6217920" y="1920240"/>
            <a:ext cx="237672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RTX 2070+, 16 GB RAM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OpenXR kompatibilné headsety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Vyššia grafická kvalita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 náročnejší rendering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457200" y="34747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Doplnkové XR technológie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457200" y="3794760"/>
            <a:ext cx="4022640" cy="10051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3" descr="preencoded.png"/>
          <p:cNvPicPr/>
          <p:nvPr/>
        </p:nvPicPr>
        <p:blipFill>
          <a:blip r:embed="rId5"/>
          <a:stretch/>
        </p:blipFill>
        <p:spPr>
          <a:xfrm>
            <a:off x="640080" y="39776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22"/>
          <p:cNvSpPr/>
          <p:nvPr/>
        </p:nvSpPr>
        <p:spPr>
          <a:xfrm>
            <a:off x="1280160" y="38862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Tablety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3"/>
          <p:cNvSpPr/>
          <p:nvPr/>
        </p:nvSpPr>
        <p:spPr>
          <a:xfrm>
            <a:off x="1280160" y="4160520"/>
            <a:ext cx="31082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Instruktorský dashboard, companion režim, observer mód pre spolužiakov bez headsetu.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4"/>
          <p:cNvSpPr/>
          <p:nvPr/>
        </p:nvSpPr>
        <p:spPr>
          <a:xfrm>
            <a:off x="4663440" y="3794760"/>
            <a:ext cx="4022640" cy="10051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4" descr="preencoded.png"/>
          <p:cNvPicPr/>
          <p:nvPr/>
        </p:nvPicPr>
        <p:blipFill>
          <a:blip r:embed="rId6"/>
          <a:stretch/>
        </p:blipFill>
        <p:spPr>
          <a:xfrm>
            <a:off x="4846320" y="39776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25"/>
          <p:cNvSpPr/>
          <p:nvPr/>
        </p:nvSpPr>
        <p:spPr>
          <a:xfrm>
            <a:off x="5486400" y="38862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Eye tracking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/>
          <p:cNvSpPr/>
          <p:nvPr/>
        </p:nvSpPr>
        <p:spPr>
          <a:xfrm>
            <a:off x="5486400" y="4160520"/>
            <a:ext cx="31082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Foveated rendering pre vyšší výkon a analýza pohľadu v debriefingu (Meta Quest Pro).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Použité nástroje pri tvorbe projektu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AI a vývojové nástroje, ktoré sme reálne využili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457200" y="128016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457200" y="128016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0" descr="preencoded.png"/>
          <p:cNvPicPr/>
          <p:nvPr/>
        </p:nvPicPr>
        <p:blipFill>
          <a:blip r:embed="rId3"/>
          <a:stretch/>
        </p:blipFill>
        <p:spPr>
          <a:xfrm>
            <a:off x="685800" y="14630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7"/>
          <p:cNvSpPr/>
          <p:nvPr/>
        </p:nvSpPr>
        <p:spPr>
          <a:xfrm>
            <a:off x="1325880" y="141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Claude (Anthropic)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1325880" y="167328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AI, obrazový generátor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685800" y="199332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Vygenerovanie favicony a loga CyberLab XR. Asistencia pri revízii a štrukturovaní dokumentácie.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4663440" y="128016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4663440" y="128016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1" descr="preencoded.png"/>
          <p:cNvPicPr/>
          <p:nvPr/>
        </p:nvPicPr>
        <p:blipFill>
          <a:blip r:embed="rId4"/>
          <a:stretch/>
        </p:blipFill>
        <p:spPr>
          <a:xfrm>
            <a:off x="4892040" y="14630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12"/>
          <p:cNvSpPr/>
          <p:nvPr/>
        </p:nvSpPr>
        <p:spPr>
          <a:xfrm>
            <a:off x="5532120" y="141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Git a GitHub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3"/>
          <p:cNvSpPr/>
          <p:nvPr/>
        </p:nvSpPr>
        <p:spPr>
          <a:xfrm>
            <a:off x="5532120" y="167328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Verziovanie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4892040" y="199332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Správa zdrojového kódu a dokumentácie, publikovanie cez GitHub Pages.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5"/>
          <p:cNvSpPr/>
          <p:nvPr/>
        </p:nvSpPr>
        <p:spPr>
          <a:xfrm>
            <a:off x="457200" y="269748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6"/>
          <p:cNvSpPr/>
          <p:nvPr/>
        </p:nvSpPr>
        <p:spPr>
          <a:xfrm>
            <a:off x="457200" y="269748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preencoded.png"/>
          <p:cNvPicPr/>
          <p:nvPr/>
        </p:nvPicPr>
        <p:blipFill>
          <a:blip r:embed="rId5"/>
          <a:stretch/>
        </p:blipFill>
        <p:spPr>
          <a:xfrm>
            <a:off x="685800" y="28803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17"/>
          <p:cNvSpPr/>
          <p:nvPr/>
        </p:nvSpPr>
        <p:spPr>
          <a:xfrm>
            <a:off x="1325880" y="28346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Unity 6.3 LTS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1325880" y="309060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Vývojové prostredie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9"/>
          <p:cNvSpPr/>
          <p:nvPr/>
        </p:nvSpPr>
        <p:spPr>
          <a:xfrm>
            <a:off x="685800" y="341064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Plánovaná platforma pre implementáciu VR prototypu od verzie v2.0. Najnovší LTS (december 2025), natívna podpora OpenXR, Meta XR SDK a URP pre Quest.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0"/>
          <p:cNvSpPr/>
          <p:nvPr/>
        </p:nvSpPr>
        <p:spPr>
          <a:xfrm>
            <a:off x="4663440" y="269748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1"/>
          <p:cNvSpPr/>
          <p:nvPr/>
        </p:nvSpPr>
        <p:spPr>
          <a:xfrm>
            <a:off x="4663440" y="269748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Image 3" descr="preencoded.png"/>
          <p:cNvPicPr/>
          <p:nvPr/>
        </p:nvPicPr>
        <p:blipFill>
          <a:blip r:embed="rId6"/>
          <a:stretch/>
        </p:blipFill>
        <p:spPr>
          <a:xfrm>
            <a:off x="4892040" y="28803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 22"/>
          <p:cNvSpPr/>
          <p:nvPr/>
        </p:nvSpPr>
        <p:spPr>
          <a:xfrm>
            <a:off x="5532120" y="28346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Figma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5532120" y="309060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UI/UX nástroj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4"/>
          <p:cNvSpPr/>
          <p:nvPr/>
        </p:nvSpPr>
        <p:spPr>
          <a:xfrm>
            <a:off x="4892040" y="341064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Skice rozloženia SOC monitorov a dashboardov, pracovné wireframe.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5"/>
          <p:cNvSpPr/>
          <p:nvPr/>
        </p:nvSpPr>
        <p:spPr>
          <a:xfrm>
            <a:off x="457200" y="4251960"/>
            <a:ext cx="8228880" cy="5479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6"/>
          <p:cNvSpPr/>
          <p:nvPr/>
        </p:nvSpPr>
        <p:spPr>
          <a:xfrm>
            <a:off x="640080" y="42976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Poznámka: </a:t>
            </a:r>
            <a:r>
              <a:rPr lang="en-US" sz="105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Textová časť je v prevažnej miere dielom autorov. AI bol použitý iba pri revízii, formálnej kontrole a generovaní loga.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Použité webové zdroje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Referencie, z ktorých sme vychádzali pri návrhu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457200" y="128016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457200" y="128016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3"/>
          <a:stretch/>
        </p:blipFill>
        <p:spPr>
          <a:xfrm>
            <a:off x="640080" y="1481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7"/>
          <p:cNvSpPr/>
          <p:nvPr/>
        </p:nvSpPr>
        <p:spPr>
          <a:xfrm>
            <a:off x="1234440" y="148140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MITRE ATT&amp;CK Framework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1234440" y="175572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attack.mitre.org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685800" y="21031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Klasifikácia útokových techník. Inšpirácia pre priebeh scenárov a časové osi.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4663440" y="128016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4663440" y="128016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81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2"/>
          <p:cNvSpPr/>
          <p:nvPr/>
        </p:nvSpPr>
        <p:spPr>
          <a:xfrm>
            <a:off x="5440680" y="148140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NIST SP 800-61 Incident Handling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5440680" y="175572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csrc.nist.gov/pubs/sp/800/61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4892040" y="21031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Metodika fáz incident response. Základ pre role a workflow v simulátore.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457200" y="301752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457200" y="301752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2" descr="preencoded.png"/>
          <p:cNvPicPr/>
          <p:nvPr/>
        </p:nvPicPr>
        <p:blipFill>
          <a:blip r:embed="rId5"/>
          <a:stretch/>
        </p:blipFill>
        <p:spPr>
          <a:xfrm>
            <a:off x="640080" y="32187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17"/>
          <p:cNvSpPr/>
          <p:nvPr/>
        </p:nvSpPr>
        <p:spPr>
          <a:xfrm>
            <a:off x="1234440" y="321876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OpenXR Specification (Khronos)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1234440" y="349308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khronos.org/openxr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9"/>
          <p:cNvSpPr/>
          <p:nvPr/>
        </p:nvSpPr>
        <p:spPr>
          <a:xfrm>
            <a:off x="685800" y="384048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Technický štandard pre multiplatformovú podporu VR/XR zariadení v Unity.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4663440" y="301752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1"/>
          <p:cNvSpPr/>
          <p:nvPr/>
        </p:nvSpPr>
        <p:spPr>
          <a:xfrm>
            <a:off x="4663440" y="301752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3" descr="preencoded.png"/>
          <p:cNvPicPr/>
          <p:nvPr/>
        </p:nvPicPr>
        <p:blipFill>
          <a:blip r:embed="rId6"/>
          <a:stretch/>
        </p:blipFill>
        <p:spPr>
          <a:xfrm>
            <a:off x="4846320" y="32187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22"/>
          <p:cNvSpPr/>
          <p:nvPr/>
        </p:nvSpPr>
        <p:spPr>
          <a:xfrm>
            <a:off x="5440680" y="321876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Developer Documentation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5440680" y="349308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developers.meta.com/horizon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4"/>
          <p:cNvSpPr/>
          <p:nvPr/>
        </p:nvSpPr>
        <p:spPr>
          <a:xfrm>
            <a:off x="4892040" y="384048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Referenčná dokumentácia pre Meta Quest 3, hand tracking a výkonnostné odporúčania.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Aktuálny stav a ďalší vývoj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je hotové dnes a kam projekt smeruje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preencoded.png"/>
          <p:cNvPicPr/>
          <p:nvPr/>
        </p:nvPicPr>
        <p:blipFill>
          <a:blip r:embed="rId3"/>
          <a:stretch/>
        </p:blipFill>
        <p:spPr>
          <a:xfrm>
            <a:off x="64008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6"/>
          <p:cNvSpPr/>
          <p:nvPr/>
        </p:nvSpPr>
        <p:spPr>
          <a:xfrm>
            <a:off x="109728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Hotové dnes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7"/>
          <p:cNvSpPr/>
          <p:nvPr/>
        </p:nvSpPr>
        <p:spPr>
          <a:xfrm>
            <a:off x="640080" y="19659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822960" y="19659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v1.0 · 24. 3.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822960" y="22219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Git repozitár, GitHub Pages, základná dokumentácia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0"/>
          <p:cNvSpPr/>
          <p:nvPr/>
        </p:nvSpPr>
        <p:spPr>
          <a:xfrm>
            <a:off x="640080" y="26517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822960" y="26517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v1.1 · 26. 3.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2"/>
          <p:cNvSpPr/>
          <p:nvPr/>
        </p:nvSpPr>
        <p:spPr>
          <a:xfrm>
            <a:off x="822960" y="29077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Logo, favicon, diagram toku dát, workflow scenárov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3"/>
          <p:cNvSpPr/>
          <p:nvPr/>
        </p:nvSpPr>
        <p:spPr>
          <a:xfrm>
            <a:off x="640080" y="33375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4"/>
          <p:cNvSpPr/>
          <p:nvPr/>
        </p:nvSpPr>
        <p:spPr>
          <a:xfrm>
            <a:off x="822960" y="33375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v1.2 · 3. 4.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5"/>
          <p:cNvSpPr/>
          <p:nvPr/>
        </p:nvSpPr>
        <p:spPr>
          <a:xfrm>
            <a:off x="822960" y="35935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Kompletná technická dokumentácia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6"/>
          <p:cNvSpPr/>
          <p:nvPr/>
        </p:nvSpPr>
        <p:spPr>
          <a:xfrm>
            <a:off x="640080" y="40233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822960" y="40233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v1.4 · 17. 4.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822960" y="42793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Cieľová skupina, MoSCoW, webové zdroje, revízia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9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20"/>
          <p:cNvSpPr/>
          <p:nvPr/>
        </p:nvSpPr>
        <p:spPr>
          <a:xfrm>
            <a:off x="530352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Roadmapa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1"/>
          <p:cNvSpPr/>
          <p:nvPr/>
        </p:nvSpPr>
        <p:spPr>
          <a:xfrm>
            <a:off x="4846320" y="20116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2"/>
          <p:cNvSpPr/>
          <p:nvPr/>
        </p:nvSpPr>
        <p:spPr>
          <a:xfrm>
            <a:off x="5029200" y="20116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v2.0 · Jeseň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3"/>
          <p:cNvSpPr/>
          <p:nvPr/>
        </p:nvSpPr>
        <p:spPr>
          <a:xfrm>
            <a:off x="5029200" y="23043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Funkčný VR prototyp v Unity, základný SOC, scenár Ransomware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4"/>
          <p:cNvSpPr/>
          <p:nvPr/>
        </p:nvSpPr>
        <p:spPr>
          <a:xfrm>
            <a:off x="4846320" y="29260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5"/>
          <p:cNvSpPr/>
          <p:nvPr/>
        </p:nvSpPr>
        <p:spPr>
          <a:xfrm>
            <a:off x="5029200" y="29260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v2.5 · Leto 2027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6"/>
          <p:cNvSpPr/>
          <p:nvPr/>
        </p:nvSpPr>
        <p:spPr>
          <a:xfrm>
            <a:off x="5029200" y="32187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Tímový mód, všetky scenáre, scoring, leaderboard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7"/>
          <p:cNvSpPr/>
          <p:nvPr/>
        </p:nvSpPr>
        <p:spPr>
          <a:xfrm>
            <a:off x="4846320" y="38404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8"/>
          <p:cNvSpPr/>
          <p:nvPr/>
        </p:nvSpPr>
        <p:spPr>
          <a:xfrm>
            <a:off x="5029200" y="38404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v3.0 · 2027 až 2028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9"/>
          <p:cNvSpPr/>
          <p:nvPr/>
        </p:nvSpPr>
        <p:spPr>
          <a:xfrm>
            <a:off x="5029200" y="41331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Plná SK/CZ lokalizácia, školský licenčný program, LMS export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45720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"/>
          <p:cNvSpPr/>
          <p:nvPr/>
        </p:nvSpPr>
        <p:spPr>
          <a:xfrm>
            <a:off x="457200" y="1234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Virtuálny SOC pre vzdelávanie v kybernetickej bezpečnosti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0" descr="preencoded.png"/>
          <p:cNvPicPr/>
          <p:nvPr/>
        </p:nvPicPr>
        <p:blipFill>
          <a:blip r:embed="rId3"/>
          <a:stretch/>
        </p:blipFill>
        <p:spPr>
          <a:xfrm>
            <a:off x="1188720" y="19018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3"/>
          <p:cNvSpPr/>
          <p:nvPr/>
        </p:nvSpPr>
        <p:spPr>
          <a:xfrm>
            <a:off x="1600200" y="182880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XR prostredie = priestorový tréning situational awareness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preencoded.png"/>
          <p:cNvPicPr/>
          <p:nvPr/>
        </p:nvPicPr>
        <p:blipFill>
          <a:blip r:embed="rId3"/>
          <a:stretch/>
        </p:blipFill>
        <p:spPr>
          <a:xfrm>
            <a:off x="1188720" y="2286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4"/>
          <p:cNvSpPr/>
          <p:nvPr/>
        </p:nvSpPr>
        <p:spPr>
          <a:xfrm>
            <a:off x="1600200" y="221292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realistických scenárov s detailným workflowom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2" descr="preencoded.png"/>
          <p:cNvPicPr/>
          <p:nvPr/>
        </p:nvPicPr>
        <p:blipFill>
          <a:blip r:embed="rId3"/>
          <a:stretch/>
        </p:blipFill>
        <p:spPr>
          <a:xfrm>
            <a:off x="1188720" y="26701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5"/>
          <p:cNvSpPr/>
          <p:nvPr/>
        </p:nvSpPr>
        <p:spPr>
          <a:xfrm>
            <a:off x="1600200" y="259704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Tímová spolupráca v reálnom čase, pod časovým tlakom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3" descr="preencoded.png"/>
          <p:cNvPicPr/>
          <p:nvPr/>
        </p:nvPicPr>
        <p:blipFill>
          <a:blip r:embed="rId3"/>
          <a:stretch/>
        </p:blipFill>
        <p:spPr>
          <a:xfrm>
            <a:off x="1188720" y="30542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6"/>
          <p:cNvSpPr/>
          <p:nvPr/>
        </p:nvSpPr>
        <p:spPr>
          <a:xfrm>
            <a:off x="1600200" y="298080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Priamy prenos zručností do praxe (Wireshark, Splunk, nmap)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4" descr="preencoded.png"/>
          <p:cNvPicPr/>
          <p:nvPr/>
        </p:nvPicPr>
        <p:blipFill>
          <a:blip r:embed="rId3"/>
          <a:stretch/>
        </p:blipFill>
        <p:spPr>
          <a:xfrm>
            <a:off x="1188720" y="3438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7"/>
          <p:cNvSpPr/>
          <p:nvPr/>
        </p:nvSpPr>
        <p:spPr>
          <a:xfrm>
            <a:off x="1600200" y="336492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Prístupné pre školy, SK/CZ lokalizácia, free tier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8"/>
          <p:cNvSpPr/>
          <p:nvPr/>
        </p:nvSpPr>
        <p:spPr>
          <a:xfrm>
            <a:off x="914400" y="3931920"/>
            <a:ext cx="7314480" cy="36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457200" y="40690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Ďakujeme za pozornosť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457200" y="46177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Šimon Škreko  |  Matúš Horváth  |  UCM Trnava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1973</Words>
  <Application>Microsoft Office PowerPoint</Application>
  <PresentationFormat>Prezentácia na obrazovke (16:9)</PresentationFormat>
  <Paragraphs>368</Paragraphs>
  <Slides>20</Slides>
  <Notes>20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20</vt:i4>
      </vt:variant>
    </vt:vector>
  </HeadingPairs>
  <TitlesOfParts>
    <vt:vector size="27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CyberLab XR Prezentacia</dc:title>
  <dc:subject>PptxGenJS Presentation</dc:subject>
  <dc:creator>Simon Skreko, Matus Horvath, Jakub Vacek</dc:creator>
  <dc:description/>
  <cp:lastModifiedBy>Matúš Horváth</cp:lastModifiedBy>
  <cp:revision>5</cp:revision>
  <dcterms:created xsi:type="dcterms:W3CDTF">2026-04-18T01:30:47Z</dcterms:created>
  <dcterms:modified xsi:type="dcterms:W3CDTF">2026-05-20T10:38:41Z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