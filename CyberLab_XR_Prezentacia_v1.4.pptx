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9376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2103120" cy="2103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1887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 Simulator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Projektová dokumentácia, návrh VR/XR aplikácie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4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Predmet: Systémy virtuálnej a zmiešanej reality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Šimon Škreko  |  Matúš Horváth  |  Jakub Vacek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B4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UCM Trnava, Aplikovaná informatika, 1. ročník Bc.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Apríl 2026  |  v1.4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je CyberLab XR?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Virtuálny Security Operations Centre pre výuku kybernetickej bezpečnosti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solidFill>
            <a:srgbClr val="E3F2FD"/>
          </a:solidFill>
          <a:ln w="19050">
            <a:solidFill>
              <a:srgbClr val="17B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Študent „fyzicky sedí" vo virtuálnom SOC, rieši živý kyberútok s tímom, pod časovým tlakom, so simulovanými nástrojmi, ktoré sa používajú aj v reálnej praxi.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56032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Realistické scenáre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typov incidentov: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Ransomware, Phishing, DDoS, Insider, SQL Injection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233172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233172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56032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Tímová spolupráca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2900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Dvaja až štyria študenti, každý s inou rolou v SOC v reálnom čase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233172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60320"/>
            <a:ext cx="548640" cy="5486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3200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Vzdelávací výstup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1792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Debriefing, replay útoku, individuálne hodnotenie, export reportu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Ciele projektu a výber témy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chceme dosiahnuť a prečo práve túto tému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" cy="3520440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Ciele projektu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85800" y="1920240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Navrhnúť architektúru XR simulátora bezpečnostných incidentov.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Definovať VR/XR subsystémy potrebné pre prostredie SOC.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Špecifikovať 5 scenárov s workflowom pre každú rolu.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Vytvoriť popis prototypu a projektovú dokumentáciu.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Prístupné riešenie bez vysokej hardvérovej bariéry.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prioritizácia a realistický roadmap vývoja.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280160"/>
            <a:ext cx="73152" cy="3520440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173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Zdôvodnenie výberu témy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892040" y="1920240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Priesečník troch oblastí: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kyberbezpečnosť, vzdelávanie, imerzívne technológie.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Medzera na trhu: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existujúce platformy sú 2D, reálny SOC je priestorový.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Zapadá do sylabu: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využíva vizualizačný, kinematický, akustický a interakčný podsystém.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Aktuálny problém: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podľa ENISA chýbajú v Európe stovky tisíc špecialistov na kyberbezpečnosť.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Cieľová skupina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 je CyberLab XR primárne určený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023360" cy="146304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Vysoké školy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Bc. a Mgr. študenti informatiky, aplikovanej informatiky a kybernetickej bezpečnosti. Vyučujúci predmetov bezpečnosti.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023360" cy="146304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3898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Stredné odborné školy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Študenti IT odborov na SPŠ, učitelia informatiky hľadajúci interaktívny spôsob výuky kyberbezpečnosti.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175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CTF tímy a krúžky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5800" y="3566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Členovia Capture the Flag tímov, účastníci hackathonov, ktorí hľadajú realistickejšie tréningové prostredie.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4023360" cy="146304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17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29900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Firemné SOC tímy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4892040" y="3566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Sekundárna skupina: spoločnosti s vlastným alebo outsourcovaným SOC, onboarding juniorných analytikov.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persony: Študent začiatočník (tutoriál), Pokročilý študent (tímový mód), Vyučujúci (sledovanie pokroku, export reportov).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Prečo práve XR?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pridáva priestorový zážitok oproti 2D terminálu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3520440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Dnešné platformy (2D terminál)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9384"/>
            <a:ext cx="228600" cy="228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TryHackMe, HackTheBox, text a terminál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5973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2404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Žiadna priestorová orientácia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90088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29352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Chýba situational awareness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0440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3465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Tímová koordinácia len cez chat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50792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39959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je pocit z reálneho SOC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4663440" y="1280160"/>
            <a:ext cx="4023360" cy="3520440"/>
          </a:xfrm>
          <a:prstGeom prst="rect">
            <a:avLst/>
          </a:prstGeom>
          <a:solidFill>
            <a:srgbClr val="ECFDF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XR, priestorový SOC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1929384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166360" y="18745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monitory, servery, logy okolo používateľa</a:t>
            </a:r>
            <a:endParaRPr lang="en-US" sz="11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2459736"/>
            <a:ext cx="228600" cy="2286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166360" y="24048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Priestorová orientácia = situational awareness</a:t>
            </a:r>
            <a:endParaRPr lang="en-US" sz="11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2990088"/>
            <a:ext cx="228600" cy="22860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66360" y="293522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Vizualizácia útoku ako 3D sieťový graf</a:t>
            </a:r>
            <a:endParaRPr lang="en-US" sz="11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6320" y="3520440"/>
            <a:ext cx="228600" cy="22860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166360" y="34655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Tímová VR session v reálnom čase</a:t>
            </a:r>
            <a:endParaRPr lang="en-US" sz="11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6320" y="4050792"/>
            <a:ext cx="228600" cy="22860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166360" y="39959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Nástroje: Wireshark, Splunk, nmap v 3D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Technická architektúra, VR/XR subsystémy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subsystém má konkrétnu funkciu v simulátore SOC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160020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Vizualizačný podsystém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19659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Stereoskopické renderovanie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až 90 fps (Meta Quest 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Foveated rendering, URP pipeline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60020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63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Kinematický podsystém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92040" y="196596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6DoF tracking hlavy a rúk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bez ovládačov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Teleportácia alebo smooth locomotion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00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Akustický podsystém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5800" y="370332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spatial audio pre alerty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Priestorový voice chat tímu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Ambisonics, atmosféra SOC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CE7F3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0040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200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Simulačný engine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92040" y="3703320"/>
            <a:ext cx="3703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scenáre incidentov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logy (Splunk, QRadar)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 debriefing recorder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Virtuálny SOC priestor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Priestorové usporiadanie monitorov, staníc a dashboardov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937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Virtuálny SOC, pohľad zhora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3291840"/>
            <a:ext cx="1371600" cy="1005840"/>
          </a:xfrm>
          <a:prstGeom prst="ellipse">
            <a:avLst/>
          </a:prstGeom>
          <a:solidFill>
            <a:srgbClr val="0B2447"/>
          </a:solidFill>
          <a:ln/>
        </p:spPr>
      </p:sp>
      <p:sp>
        <p:nvSpPr>
          <p:cNvPr id="10" name="Text 8"/>
          <p:cNvSpPr/>
          <p:nvPr/>
        </p:nvSpPr>
        <p:spPr>
          <a:xfrm>
            <a:off x="2240280" y="3291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Panel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00200" y="169164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Map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51760" y="169164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Viewer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03320" y="169164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6916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System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1828800"/>
            <a:ext cx="1005840" cy="548640"/>
          </a:xfrm>
          <a:prstGeom prst="roundRect">
            <a:avLst>
              <a:gd name="adj" fmla="val 8333"/>
            </a:avLst>
          </a:prstGeom>
          <a:solidFill>
            <a:srgbClr val="17B7D0"/>
          </a:solidFill>
          <a:ln w="12700">
            <a:solidFill>
              <a:srgbClr val="0284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828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Status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3291840"/>
            <a:ext cx="-1737360" cy="-9144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926080" y="3291840"/>
            <a:ext cx="-822960" cy="-1051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926080" y="3291840"/>
            <a:ext cx="228600" cy="-1051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2926080" y="3291840"/>
            <a:ext cx="1280160" cy="-105156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2926080" y="3291840"/>
            <a:ext cx="2148840" cy="-91440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577840" y="1280160"/>
            <a:ext cx="3108960" cy="35204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7" name="Text 25"/>
          <p:cNvSpPr/>
          <p:nvPr/>
        </p:nvSpPr>
        <p:spPr>
          <a:xfrm>
            <a:off x="571500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Kľúčové vlastnosti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760720" y="2057400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1965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3 ako primárna platforma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2496312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0" y="2404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VR (SteamVR) ako alternatíva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2935224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0" y="28437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6DoF tracking a hand tracking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3374136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328269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Teleportácia medzi stanicami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760720" y="3813048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0" y="37216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pre celý tím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0" y="4251960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0" y="4160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Interakcia s Alert Cards v 3D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scenárov bezpečnostných incidentov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scenár má vlastnú časovú os, logy, role a hodnotenie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600200" cy="246888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Šifrovanie dát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 → SSH BF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Malware → Encrypt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148840" y="1280160"/>
            <a:ext cx="1600200" cy="246888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40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9456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40280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phish emailov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kompromitovaných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účtov, exfiltrácia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840480" y="1280160"/>
            <a:ext cx="1600200" cy="2468880"/>
          </a:xfrm>
          <a:prstGeom prst="rect">
            <a:avLst/>
          </a:prstGeom>
          <a:solidFill>
            <a:srgbClr val="FED7AA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4173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8620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931920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req/s na server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aktivácia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botnet filtrovanie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532120" y="1280160"/>
            <a:ext cx="1600200" cy="2468880"/>
          </a:xfrm>
          <a:prstGeom prst="rect">
            <a:avLst/>
          </a:prstGeom>
          <a:solidFill>
            <a:srgbClr val="E0E7FF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4173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7784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623560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Prístup o 2:30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staging 2,3 GB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exfiltrácia na Drive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7223760" y="1280160"/>
            <a:ext cx="1600200" cy="2468880"/>
          </a:xfrm>
          <a:prstGeom prst="rect">
            <a:avLst/>
          </a:prstGeom>
          <a:solidFill>
            <a:srgbClr val="D1FAE5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141732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69480" y="19202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7315200" y="228600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 URL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5 200 účtov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exfiltrácia z DB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8" name="Text 21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v každom scenári: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  |   FORENSICS SPECIALIST   |   INCIDENT HANDLER   |   ADMIN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Scenár: Ransomware útok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Príklad detailného workflow, krok za krokom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43000" y="13716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Medium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1668780"/>
            <a:ext cx="640080" cy="0"/>
          </a:xfrm>
          <a:prstGeom prst="line">
            <a:avLst/>
          </a:prstGeom>
          <a:noFill/>
          <a:ln w="25400">
            <a:solidFill>
              <a:srgbClr val="17B7D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1371600"/>
            <a:ext cx="594360" cy="5943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SSH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High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31920" y="1668780"/>
            <a:ext cx="640080" cy="0"/>
          </a:xfrm>
          <a:prstGeom prst="line">
            <a:avLst/>
          </a:prstGeom>
          <a:noFill/>
          <a:ln w="25400">
            <a:solidFill>
              <a:srgbClr val="17B7D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49240" y="137160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Injection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Critical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668780"/>
            <a:ext cx="640080" cy="0"/>
          </a:xfrm>
          <a:prstGeom prst="line">
            <a:avLst/>
          </a:prstGeom>
          <a:noFill/>
          <a:ln w="25400">
            <a:solidFill>
              <a:srgbClr val="17B7D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52360" y="137160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1371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Encryption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331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Critical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Hlavná úloha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Nástroje v SOC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Detekuje alerty, klasifikuje typ útoku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SIEM Panel, Alert Cards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Analyzuje logy, rekonštruuje stopu útočníka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Viewer, Timeline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INC. HANDLER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Izoluje napadnuté zariadenia, zastavuje šírenie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Map, Firewall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24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Resetuje heslá, obnovuje systém zo zálohy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 System, Backup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Systém hodnotenia a debriefing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sa meria výkon a čo dostane študent po skončení simulácie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Rýchlosť detekcie (MTTD)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od prvého alertu po identifikáciu incidentu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8016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3756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Správnosť rozhodnutí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Percento správnych akcií počas celého incidentu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26517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28016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417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126480" y="2011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Minimalizácia škôd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2377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Koľko systémov a dát bolo zachránených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8229600" cy="160020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200400"/>
            <a:ext cx="73152" cy="160020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Debriefing mód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" y="3813048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replay útoku na Network Map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813048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28" name="Text 26"/>
          <p:cNvSpPr/>
          <p:nvPr/>
        </p:nvSpPr>
        <p:spPr>
          <a:xfrm>
            <a:off x="5047488" y="3703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Zelené a červené značky rozhodnutí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224528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Individuálne hodnotenie pre každú rolu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4224528"/>
            <a:ext cx="109728" cy="109728"/>
          </a:xfrm>
          <a:prstGeom prst="ellipse">
            <a:avLst/>
          </a:prstGeom>
          <a:solidFill>
            <a:srgbClr val="17B7D0"/>
          </a:solidFill>
          <a:ln/>
        </p:spPr>
      </p:sp>
      <p:sp>
        <p:nvSpPr>
          <p:cNvPr id="32" name="Text 30"/>
          <p:cNvSpPr/>
          <p:nvPr/>
        </p:nvSpPr>
        <p:spPr>
          <a:xfrm>
            <a:off x="5047488" y="4114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Časová os celého incidentu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4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debriefing reportu ako PDF pre hodnotenie učiteľom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Porovnanie s existujúcimi platformami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Prečo žiadna iná platforma nerieši rovnaký problém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70432"/>
                <a:gridCol w="1170432"/>
                <a:gridCol w="1170432"/>
                <a:gridCol w="1170432"/>
                <a:gridCol w="1170432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VR/XR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Sim. inc.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Tím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SK/CZ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Školy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4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CyberLab XR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TryHackMe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HackTheBox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Cyberbit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CyberStrike VR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Cyber Ranges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Prečo tieto platformy?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Reprezentujú rôzne kategórie: web laby (TryHackMe, HackTheBox), enterprise simulátory (Cyberbit), VR hry (CyberStrike) a prof. školenia (SANS). Immersive Labs a RangeForce sme vynechali, sú príliš podobné TryHackMe.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prioritizácia funkcionalít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musí byť v prvom vydaní a čo môže prísť neskôr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1691640"/>
          </a:xfrm>
          <a:prstGeom prst="rect">
            <a:avLst/>
          </a:prstGeom>
          <a:solidFill>
            <a:srgbClr val="FEE2E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4023360" cy="34747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virtuálne SOC prostredie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3 cez Unity + OpenXR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hrateľný scenár (Ransomware)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panel simulátor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6DoF tracking, raycast interakcie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 debriefing mód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691640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80160"/>
            <a:ext cx="4023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Všetkých 5 scenárov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Tímový mód 2 až 4 hráči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systém (Analyst, Forensics, Handler, Admin)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spatial audio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SK/CZ lokalizácia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režim pre tablety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1691640"/>
          </a:xfrm>
          <a:prstGeom prst="rect">
            <a:avLst/>
          </a:prstGeom>
          <a:solidFill>
            <a:srgbClr val="EDE9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63240"/>
            <a:ext cx="402336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mód (HoloLens, Vision Pro)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tracking + foveated rendering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vlastných scenárov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integrácia (Moodle, Canvas)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medzi školami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063240"/>
            <a:ext cx="4023360" cy="16916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063240"/>
            <a:ext cx="4023360" cy="34747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63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 (táto fáza)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7472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Autonómni AI protivníci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Integrácia s produkčnými SIEM (API)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Mobilná 2D verzia bez VR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Cloudový globálny multiplayer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Certifikačné testy (Security+, CEH)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Hardvér a XR technológie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Primárne headsety a doplnkové zariadenia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6517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1645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Primárna platforma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40080" y="19202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Standalone, bez PC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2064 x 2208 px/oko, 90 Hz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6DoF + hand tracking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XR2 Gen 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46120" y="1280160"/>
            <a:ext cx="26517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28016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17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8620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886200" y="1645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Kompatibilný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429000" y="19202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Plná kompatibilita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Nižšia grafická kvalita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Dostupnejšia cena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Ideálny pre väčšie triedy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35040" y="1280160"/>
            <a:ext cx="265176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35040" y="1280160"/>
            <a:ext cx="26517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VR (SteamVR)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675120" y="16459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Pokročilý mód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217920" y="192024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2070+, 16 GB RAM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HTC Vive, Valve Index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Vyššia grafická kvalita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náročnejší rendering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Doplnkové XR technológie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57200" y="3794760"/>
            <a:ext cx="4023360" cy="100584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7764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8016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Tablety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280160" y="4160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Instruktorský dashboard, companion režim, observer mód pre spolužiakov bez headsetu.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663440" y="3794760"/>
            <a:ext cx="4023360" cy="1005840"/>
          </a:xfrm>
          <a:prstGeom prst="rect">
            <a:avLst/>
          </a:prstGeom>
          <a:solidFill>
            <a:srgbClr val="E3F2FD"/>
          </a:solidFill>
          <a:ln w="6350">
            <a:solidFill>
              <a:srgbClr val="CBD5E1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97764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48640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tracking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486400" y="4160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Foveated rendering pre vyšší výkon a analýza pohľadu v debriefingu (Meta Quest Pro, PSVR2).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Použité nástroje pri tvorbe projektu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 vývojové nástroje, ktoré sme reálne využili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73152" cy="1280160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obrazový generátor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19933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Vygenerovanie favicony a loga CyberLab XR. Asistencia pri revízii a štrukturovaní dokumentácie.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280160"/>
            <a:ext cx="73152" cy="1280160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4630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417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 GitHub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532120" y="16733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Verziovanie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92040" y="19933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zdrojového kódu a dokumentácie, publikovanie cez GitHub Pages.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7200" y="269748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697480"/>
            <a:ext cx="73152" cy="1280160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803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2588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3D (2022 LTS)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25880" y="30906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Vývojové prostredie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85800" y="34107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Plánovaná platforma pre implementáciu VR prototypu od verzie v2.0.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2697480"/>
            <a:ext cx="40233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63440" y="2697480"/>
            <a:ext cx="73152" cy="1280160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8036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32120" y="2834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532120" y="30906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nástroj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892040" y="341071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Skice rozloženia SOC monitorov a dashboardov, pracovné wireframe.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457200" y="4251960"/>
            <a:ext cx="8229600" cy="54864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Poznámka: </a:t>
            </a:r>
            <a:pPr indent="0" marL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Textová časť je v prevažnej miere dielom autorov. AI bol použitý iba pri revízii, formálnej kontrole a generovaní loga.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Použité webové zdroje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Referencie, z ktorých sme vychádzali pri návrhu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481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Framework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234440" y="1755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attack.mitre.org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8580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Klasifikácia útokových techník. Inšpirácia pre priebeh scenárov a časové osi.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28016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8132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148132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800-61 Incident Handling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40680" y="17556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csrc.nist.gov/pubs/sp/800/61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92040" y="21031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Metodika fáz incident response. Základ pre role a workflow v simulátore.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3017520"/>
            <a:ext cx="40233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21868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3444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OpenXR Specification (Khronos)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234440" y="3493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khronos.org/openxr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8580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Technický štandard pre multiplatformovú podporu VR/XR zariadení v Unity.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663440" y="3017520"/>
            <a:ext cx="4023360" cy="73152"/>
          </a:xfrm>
          <a:prstGeom prst="rect">
            <a:avLst/>
          </a:prstGeom>
          <a:solidFill>
            <a:srgbClr val="17B7D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18688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40680" y="32186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Developer Documentation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40680" y="3493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developers.meta.com/horizon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892040" y="38404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Referenčná dokumentácia pre Meta Quest 3, hand tracking a výkonnostné odporúčania.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19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  |  UCM Trnava  | 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Aktuálny stav a ďalší vývoj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je hotové dnes a kam projekt smeruje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0233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Hotové dnes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1965960"/>
            <a:ext cx="73152" cy="54864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· 24. 3. 2026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22219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repozitár, GitHub Pages, základná dokumentácia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0080" y="2651760"/>
            <a:ext cx="73152" cy="54864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· 26. 3. 2026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29077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favicon, diagram toku dát, workflow scenárov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337560"/>
            <a:ext cx="73152" cy="54864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337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 · 3. 4. 2026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22960" y="35935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Kompletná technická dokumentácia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4023360"/>
            <a:ext cx="73152" cy="54864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v1.4 · 17. 4. 2026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22960" y="427939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Cieľová skupina, MoSCoW, webové zdroje, revízia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1280160"/>
            <a:ext cx="4023360" cy="3520440"/>
          </a:xfrm>
          <a:prstGeom prst="rect">
            <a:avLst/>
          </a:prstGeom>
          <a:solidFill>
            <a:srgbClr val="0B2447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41732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3035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Roadmapa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4846320" y="2011680"/>
            <a:ext cx="73152" cy="77724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26" name="Text 22"/>
          <p:cNvSpPr/>
          <p:nvPr/>
        </p:nvSpPr>
        <p:spPr>
          <a:xfrm>
            <a:off x="5029200" y="2011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· Jeseň 2026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5029200" y="23042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Funkčný VR prototyp v Unity, základný SOC, scenár Ransomware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46320" y="2926080"/>
            <a:ext cx="73152" cy="77724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29" name="Text 25"/>
          <p:cNvSpPr/>
          <p:nvPr/>
        </p:nvSpPr>
        <p:spPr>
          <a:xfrm>
            <a:off x="5029200" y="2926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 · Leto 2027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5029200" y="32186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Tímový mód, všetky scenáre, scoring, leaderboard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46320" y="3840480"/>
            <a:ext cx="73152" cy="777240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2" name="Text 28"/>
          <p:cNvSpPr/>
          <p:nvPr/>
        </p:nvSpPr>
        <p:spPr>
          <a:xfrm>
            <a:off x="5029200" y="3840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· 2027 až 2028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5029200" y="41330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4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Plná SK/CZ lokalizácia, školský licenčný program, LMS export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CyberLab XR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7B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Virtuálny SOC pre vzdelávanie v kybernetickej bezpečnosti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90195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288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prostredie = priestorový tréning situational awareness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286000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21284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realistických scenárov s detailným workflowom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267004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259689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Tímová spolupráca v reálnom čase, pod časovým tlakom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05409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00200" y="298094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Priamy prenos zručností do praxe (Wireshark, Splunk, nmap)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343814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600200" y="336499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Prístupné pre školy, SK/CZ lokalizácia, free tier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914400" y="3931920"/>
            <a:ext cx="7315200" cy="36576"/>
          </a:xfrm>
          <a:prstGeom prst="rect">
            <a:avLst/>
          </a:prstGeom>
          <a:solidFill>
            <a:srgbClr val="17B7D0"/>
          </a:solidFill>
          <a:ln/>
        </p:spPr>
      </p:sp>
      <p:sp>
        <p:nvSpPr>
          <p:cNvPr id="16" name="Text 9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Ďakujeme za pozornosť</a:t>
            </a:r>
            <a:endParaRPr lang="en-US" sz="2600" dirty="0"/>
          </a:p>
        </p:txBody>
      </p:sp>
      <p:sp>
        <p:nvSpPr>
          <p:cNvPr id="17" name="Text 10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C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Šimon Škreko  |  Matúš Horváth  |  Jakub Vacek  |  UCM Trnava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CyberLab XR Prezentacia</dc:title>
  <dc:subject>PptxGenJS Presentation</dc:subject>
  <dc:creator>Simon Skreko, Matus Horvath, Jakub Vacek</dc:creator>
  <cp:lastModifiedBy>Simon Skreko, Matus Horvath, Jakub Vacek</cp:lastModifiedBy>
  <cp:revision>1</cp:revision>
  <dcterms:created xsi:type="dcterms:W3CDTF">2026-04-18T01:30:47Z</dcterms:created>
  <dcterms:modified xsi:type="dcterms:W3CDTF">2026-04-18T01:30:47Z</dcterms:modified>
</cp:coreProperties>
</file>