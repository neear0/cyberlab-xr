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3.png" ContentType="image/png"/>
  <Override PartName="/ppt/media/image18.png" ContentType="image/png"/>
  <Override PartName="/ppt/media/image20.png" ContentType="image/png"/>
  <Override PartName="/ppt/media/image17.png" ContentType="image/png"/>
  <Override PartName="/ppt/media/image8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27.png" ContentType="image/png"/>
  <Override PartName="/ppt/media/image11.png" ContentType="image/png"/>
  <Override PartName="/ppt/media/image26.png" ContentType="image/png"/>
  <Override PartName="/ppt/media/image24.png" ContentType="image/png"/>
  <Override PartName="/ppt/media/image22.png" ContentType="image/png"/>
  <Override PartName="/ppt/media/image3.png" ContentType="image/png"/>
  <Override PartName="/ppt/media/image2.png" ContentType="image/png"/>
  <Override PartName="/ppt/media/image25.png" ContentType="image/png"/>
  <Override PartName="/ppt/media/image23.png" ContentType="image/png"/>
  <Override PartName="/ppt/media/image12.png" ContentType="image/png"/>
  <Override PartName="/ppt/media/image21.png" ContentType="image/png"/>
  <Override PartName="/ppt/media/image4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9.png" ContentType="image/png"/>
  <Override PartName="/ppt/media/image6.png" ContentType="image/png"/>
  <Override PartName="/ppt/media/image1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8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6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15.xml.rels" ContentType="application/vnd.openxmlformats-package.relationships+xml"/>
  <Override PartName="/ppt/slides/_rels/slide4.xml.rels" ContentType="application/vnd.openxmlformats-package.relationshi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5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E64538F-977C-460C-B3EC-DA1B5482F73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8A8833-01FC-4C49-BF12-5F11167FE36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E19E1EC-C8E7-4714-B5C6-F9A187337E4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4DF0E9-AC92-49F4-8AA7-9CE79797471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D4D1EC-CEF9-4568-A8B2-4A71544069B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5237B0F-367B-4296-8419-528100AB9C6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82B0ED-82CF-4C05-91D8-BFB1BF7EA3C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03C528-515D-4977-8BE1-6309ABB0837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C462C21-E858-415E-9FBA-DC9209DCDE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E81698-7E96-44AA-A3BE-0245F5900EE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A95064-B283-4437-8316-94C9E9A071E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7204DE9-66EF-4013-B4E0-6329988EE48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5E0BC9-C67D-4585-A775-95F37427843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B09E83E-204A-4043-A2BB-014539ED11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3DB90B-DF54-448F-8992-E80F2E74166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F800DD-F8B0-456A-8799-66DAC426E5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8B93CB-0380-43A2-81D0-D45E9C5A4DE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7C2206-6455-49F7-BA59-718522E141F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9.png"/><Relationship Id="rId3" Type="http://schemas.openxmlformats.org/officeDocument/2006/relationships/image" Target="../media/image9.png"/><Relationship Id="rId4" Type="http://schemas.openxmlformats.org/officeDocument/2006/relationships/image" Target="../media/image9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0.png"/><Relationship Id="rId8" Type="http://schemas.openxmlformats.org/officeDocument/2006/relationships/image" Target="../media/image10.png"/><Relationship Id="rId9" Type="http://schemas.openxmlformats.org/officeDocument/2006/relationships/image" Target="../media/image10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0.png"/><Relationship Id="rId3" Type="http://schemas.openxmlformats.org/officeDocument/2006/relationships/image" Target="../media/image10.png"/><Relationship Id="rId4" Type="http://schemas.openxmlformats.org/officeDocument/2006/relationships/image" Target="../media/image10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669280" y="0"/>
            <a:ext cx="3474000" cy="5142960"/>
          </a:xfrm>
          <a:prstGeom prst="rect">
            <a:avLst/>
          </a:prstGeom>
          <a:solidFill>
            <a:srgbClr val="1937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1"/>
          <a:stretch/>
        </p:blipFill>
        <p:spPr>
          <a:xfrm>
            <a:off x="6400800" y="1463040"/>
            <a:ext cx="2102400" cy="21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548640" y="1188720"/>
            <a:ext cx="5028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</a:t>
            </a:r>
            <a:endParaRPr b="0" lang="en-US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548640" y="2148840"/>
            <a:ext cx="5028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Incident Response Simulator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4"/>
          <p:cNvSpPr/>
          <p:nvPr/>
        </p:nvSpPr>
        <p:spPr>
          <a:xfrm>
            <a:off x="548640" y="2697480"/>
            <a:ext cx="1370880" cy="36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548640" y="288036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Projektová dokumentácia, návrh VR/XR aplikácie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548640" y="3246120"/>
            <a:ext cx="50284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Predmet: Systémy virtuálnej a zmiešanej reality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548640" y="388620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Šimon Škreko  |  Matúš Horváth 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48640" y="41605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UCM Trnava, Aplikovaná informatika, 1. ročník Bc.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48640" y="4617720"/>
            <a:ext cx="5028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Apríl 2026  |  v1.4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Čo je CyberLab XR?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Virtuálny Security Operations Centre pre výuku kybernetickej bezpečnosti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457200" y="1280160"/>
            <a:ext cx="8228880" cy="822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7b7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731520" y="1325880"/>
            <a:ext cx="76802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Študent „fyzicky sedí" vo virtuálnom SOC, rieši živý kyberútok s tímom, pod časovým tlakom, so simulovanými nástrojmi, ktoré sa používajú aj v reálnej praxi.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45720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5720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Image 0" descr="preencoded.png"/>
          <p:cNvPicPr/>
          <p:nvPr/>
        </p:nvPicPr>
        <p:blipFill>
          <a:blip r:embed="rId1"/>
          <a:stretch/>
        </p:blipFill>
        <p:spPr>
          <a:xfrm>
            <a:off x="150876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54864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Realistické scenáre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64008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5 typov incidentov: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Ransomware, Phishing, DDoS, Insider, SQL Injection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324612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324612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1" descr="preencoded.png"/>
          <p:cNvPicPr/>
          <p:nvPr/>
        </p:nvPicPr>
        <p:blipFill>
          <a:blip r:embed="rId2"/>
          <a:stretch/>
        </p:blipFill>
        <p:spPr>
          <a:xfrm>
            <a:off x="429768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333756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Tímová spolupráca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342900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Dvaja až štyria študenti, každý s inou rolou v SOC v reálnom čase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035040" y="2331720"/>
            <a:ext cx="2651040" cy="2376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6035040" y="233172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2" descr="preencoded.png"/>
          <p:cNvPicPr/>
          <p:nvPr/>
        </p:nvPicPr>
        <p:blipFill>
          <a:blip r:embed="rId3"/>
          <a:stretch/>
        </p:blipFill>
        <p:spPr>
          <a:xfrm>
            <a:off x="7086600" y="2560320"/>
            <a:ext cx="547920" cy="54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17"/>
          <p:cNvSpPr/>
          <p:nvPr/>
        </p:nvSpPr>
        <p:spPr>
          <a:xfrm>
            <a:off x="6126480" y="320040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Vzdelávací výstup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6217920" y="3566160"/>
            <a:ext cx="2285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Debriefing, replay útoku, individuálne hodnotenie, export reportu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Ciele projektu a výber témy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chceme dosiahnuť a prečo práve túto tému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457200" y="1280160"/>
            <a:ext cx="72360" cy="35197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68580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7"/>
          <p:cNvSpPr/>
          <p:nvPr/>
        </p:nvSpPr>
        <p:spPr>
          <a:xfrm>
            <a:off x="114300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Ciele projektu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685800" y="1920240"/>
            <a:ext cx="3656880" cy="27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Navrhnúť architektúru XR simulátora bezpečnostných incidentov.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Definovať VR/XR subsystémy potrebné pre prostredie SOC.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Špecifikovať 5 scenárov s workflowom pre každú rolu.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Vytvoriť popis prototypu a projektovú dokumentáciu.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Prístupné riešenie bez vysokej hardvérovej bariéry.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300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MoSCoW prioritizácia a realistický roadmap vývoja.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0"/>
          <p:cNvSpPr/>
          <p:nvPr/>
        </p:nvSpPr>
        <p:spPr>
          <a:xfrm>
            <a:off x="4663440" y="1280160"/>
            <a:ext cx="72360" cy="35197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2"/>
          <a:stretch/>
        </p:blipFill>
        <p:spPr>
          <a:xfrm>
            <a:off x="489204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1"/>
          <p:cNvSpPr/>
          <p:nvPr/>
        </p:nvSpPr>
        <p:spPr>
          <a:xfrm>
            <a:off x="534924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Zdôvodnenie výberu témy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4892040" y="1920240"/>
            <a:ext cx="3656880" cy="27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Priesečník troch oblastí: </a:t>
            </a: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kyberbezpečnosť, vzdelávanie, imerzívne technológie.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4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Medzera na trhu: </a:t>
            </a: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existujúce platformy sú 2D, reálny SOC je priestorový.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4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Zapadá do sylabu: </a:t>
            </a: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využíva vizualizačný, kinematický, akustický a interakčný podsystém.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0" lang="en-US" sz="4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Aktuálny problém: </a:t>
            </a:r>
            <a:r>
              <a:rPr b="0" lang="en-US" sz="11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podľa ENISA chýbajú v Európe stovky tisíc špecialistov na kyberbezpečnosť.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Cieľová skupina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 podľa cieľovej skupiny – rôzna obtiažnosť, zameranie a herný aspekt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457200" y="1234440"/>
            <a:ext cx="4022640" cy="14623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 0" descr="preencoded.png"/>
          <p:cNvPicPr/>
          <p:nvPr/>
        </p:nvPicPr>
        <p:blipFill>
          <a:blip r:embed="rId1"/>
          <a:stretch/>
        </p:blipFill>
        <p:spPr>
          <a:xfrm>
            <a:off x="64008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6"/>
          <p:cNvSpPr/>
          <p:nvPr/>
        </p:nvSpPr>
        <p:spPr>
          <a:xfrm>
            <a:off x="1234440" y="13899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Stredné školy – EXPLORER MODE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685800" y="19659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Najjednoduchší režim s výrazným herným aspektom. Zjednodušené scenáre, kroková výuka s nápoveďou, vlastný maskot CyberLab sprievodca, gamifikácia (XP, odznaky). Cieľ: vzbudiť záujem o kybernetickú bezpečnosť.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8"/>
          <p:cNvSpPr/>
          <p:nvPr/>
        </p:nvSpPr>
        <p:spPr>
          <a:xfrm>
            <a:off x="4663440" y="1234440"/>
            <a:ext cx="4022640" cy="146232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484632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9"/>
          <p:cNvSpPr/>
          <p:nvPr/>
        </p:nvSpPr>
        <p:spPr>
          <a:xfrm>
            <a:off x="5440680" y="13899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Vysoké školy – ANALYST MODE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892040" y="19659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Pokročilý režim bez maskota. Detailnejšie scenáre, hlbšia analýza logov, plnohodnotný SIEM panel, tímové role. Hrateľnosť ostáva dôležitým faktorom obtiažnosti. Bc./Mgr. informatika, kybernetická bezpečnosť.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457200" y="2834640"/>
            <a:ext cx="4022640" cy="14623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Image 2" descr="preencoded.png"/>
          <p:cNvPicPr/>
          <p:nvPr/>
        </p:nvPicPr>
        <p:blipFill>
          <a:blip r:embed="rId3"/>
          <a:stretch/>
        </p:blipFill>
        <p:spPr>
          <a:xfrm>
            <a:off x="640080" y="30175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Text 12"/>
          <p:cNvSpPr/>
          <p:nvPr/>
        </p:nvSpPr>
        <p:spPr>
          <a:xfrm>
            <a:off x="1234440" y="29901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Firmy a SOC tímy – PRO MODE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685800" y="35661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Najvyšší dôraz na náučný výstup a presnosť scenárov. Simulované nástroje verné realite (Splunk, Wireshark, nmap). Herný aspekt potlačený, hodnotenie podľa profesionálnych štandardov (NIST, MITRE ATT&amp;CK). Onboarding SOC analytikov.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663440" y="2834640"/>
            <a:ext cx="4022640" cy="146232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3" descr="preencoded.png"/>
          <p:cNvPicPr/>
          <p:nvPr/>
        </p:nvPicPr>
        <p:blipFill>
          <a:blip r:embed="rId4"/>
          <a:stretch/>
        </p:blipFill>
        <p:spPr>
          <a:xfrm>
            <a:off x="4846320" y="30175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5"/>
          <p:cNvSpPr/>
          <p:nvPr/>
        </p:nvSpPr>
        <p:spPr>
          <a:xfrm>
            <a:off x="5440680" y="299016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Maskot &amp; Personalizácia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6"/>
          <p:cNvSpPr/>
          <p:nvPr/>
        </p:nvSpPr>
        <p:spPr>
          <a:xfrm>
            <a:off x="4892040" y="356616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Explorer Mode predstaví maskota „CyByte“ – priateľského robotického strážcu siete. Sprievodca vysvetľuje pojmy, dáva nápovedy a motivuje. Analyst a Pro Mode ho neobsahujú – zachovávajú profesionálny charakter prostredia.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457200" y="452628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Tri režimy: Explorer (stredné školy) · Analyst (vysoké školy) · Pro (firmy) – každý s vlastnou obtiažnosťou, nástrojmi a mierou herného aspektu.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Prečo práve XR?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pridáva priestorový zážitok oproti 2D terminálu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594360" y="137160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ef4444"/>
                </a:solidFill>
                <a:effectLst/>
                <a:uFillTx/>
                <a:latin typeface="Calibri"/>
                <a:ea typeface="Calibri"/>
              </a:rPr>
              <a:t>Dnešné platformy (2D terminál)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preencoded.png"/>
          <p:cNvPicPr/>
          <p:nvPr/>
        </p:nvPicPr>
        <p:blipFill>
          <a:blip r:embed="rId1"/>
          <a:stretch/>
        </p:blipFill>
        <p:spPr>
          <a:xfrm>
            <a:off x="640080" y="19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7"/>
          <p:cNvSpPr/>
          <p:nvPr/>
        </p:nvSpPr>
        <p:spPr>
          <a:xfrm>
            <a:off x="960120" y="18745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TryHackMe, HackTheBox, text a terminál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1" descr="preencoded.png"/>
          <p:cNvPicPr/>
          <p:nvPr/>
        </p:nvPicPr>
        <p:blipFill>
          <a:blip r:embed="rId2"/>
          <a:stretch/>
        </p:blipFill>
        <p:spPr>
          <a:xfrm>
            <a:off x="640080" y="2459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8"/>
          <p:cNvSpPr/>
          <p:nvPr/>
        </p:nvSpPr>
        <p:spPr>
          <a:xfrm>
            <a:off x="960120" y="24048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Žiadna priestorová orientácia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2" descr="preencoded.png"/>
          <p:cNvPicPr/>
          <p:nvPr/>
        </p:nvPicPr>
        <p:blipFill>
          <a:blip r:embed="rId3"/>
          <a:stretch/>
        </p:blipFill>
        <p:spPr>
          <a:xfrm>
            <a:off x="640080" y="2990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9"/>
          <p:cNvSpPr/>
          <p:nvPr/>
        </p:nvSpPr>
        <p:spPr>
          <a:xfrm>
            <a:off x="960120" y="29350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Chýba situational awareness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3" descr="preencoded.png"/>
          <p:cNvPicPr/>
          <p:nvPr/>
        </p:nvPicPr>
        <p:blipFill>
          <a:blip r:embed="rId4"/>
          <a:stretch/>
        </p:blipFill>
        <p:spPr>
          <a:xfrm>
            <a:off x="640080" y="352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10"/>
          <p:cNvSpPr/>
          <p:nvPr/>
        </p:nvSpPr>
        <p:spPr>
          <a:xfrm>
            <a:off x="960120" y="34657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Tímová koordinácia len cez chat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4" descr="preencoded.png"/>
          <p:cNvPicPr/>
          <p:nvPr/>
        </p:nvPicPr>
        <p:blipFill>
          <a:blip r:embed="rId5"/>
          <a:stretch/>
        </p:blipFill>
        <p:spPr>
          <a:xfrm>
            <a:off x="640080" y="40507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11"/>
          <p:cNvSpPr/>
          <p:nvPr/>
        </p:nvSpPr>
        <p:spPr>
          <a:xfrm>
            <a:off x="960120" y="39960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Nie je pocit z reálneho SOC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4800600" y="1371600"/>
            <a:ext cx="37483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CyberLab XR, priestorový SOC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5" descr="preencoded.png"/>
          <p:cNvPicPr/>
          <p:nvPr/>
        </p:nvPicPr>
        <p:blipFill>
          <a:blip r:embed="rId6"/>
          <a:stretch/>
        </p:blipFill>
        <p:spPr>
          <a:xfrm>
            <a:off x="4846320" y="19292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14"/>
          <p:cNvSpPr/>
          <p:nvPr/>
        </p:nvSpPr>
        <p:spPr>
          <a:xfrm>
            <a:off x="5166360" y="18745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monitory, servery, logy okolo používateľa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6" descr="preencoded.png"/>
          <p:cNvPicPr/>
          <p:nvPr/>
        </p:nvPicPr>
        <p:blipFill>
          <a:blip r:embed="rId7"/>
          <a:stretch/>
        </p:blipFill>
        <p:spPr>
          <a:xfrm>
            <a:off x="4846320" y="245988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15"/>
          <p:cNvSpPr/>
          <p:nvPr/>
        </p:nvSpPr>
        <p:spPr>
          <a:xfrm>
            <a:off x="5166360" y="24048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Priestorová orientácia = situational awareness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Image 7" descr="preencoded.png"/>
          <p:cNvPicPr/>
          <p:nvPr/>
        </p:nvPicPr>
        <p:blipFill>
          <a:blip r:embed="rId8"/>
          <a:stretch/>
        </p:blipFill>
        <p:spPr>
          <a:xfrm>
            <a:off x="4846320" y="2990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16"/>
          <p:cNvSpPr/>
          <p:nvPr/>
        </p:nvSpPr>
        <p:spPr>
          <a:xfrm>
            <a:off x="5166360" y="293508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Vizualizácia útoku ako 3D sieťový graf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8" descr="preencoded.png"/>
          <p:cNvPicPr/>
          <p:nvPr/>
        </p:nvPicPr>
        <p:blipFill>
          <a:blip r:embed="rId9"/>
          <a:stretch/>
        </p:blipFill>
        <p:spPr>
          <a:xfrm>
            <a:off x="4846320" y="352044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17"/>
          <p:cNvSpPr/>
          <p:nvPr/>
        </p:nvSpPr>
        <p:spPr>
          <a:xfrm>
            <a:off x="5166360" y="346572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Tímová VR session v reálnom čase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9" descr="preencoded.png"/>
          <p:cNvPicPr/>
          <p:nvPr/>
        </p:nvPicPr>
        <p:blipFill>
          <a:blip r:embed="rId10"/>
          <a:stretch/>
        </p:blipFill>
        <p:spPr>
          <a:xfrm>
            <a:off x="4846320" y="405072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8"/>
          <p:cNvSpPr/>
          <p:nvPr/>
        </p:nvSpPr>
        <p:spPr>
          <a:xfrm>
            <a:off x="5166360" y="3996000"/>
            <a:ext cx="34740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Nástroje: Wireshark, Splunk, nmap v 3D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Technická architektúra, VR/XR subsystémy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Každý subsystém má konkrétnu funkciu v simulátore SOC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5"/>
          <p:cNvSpPr/>
          <p:nvPr/>
        </p:nvSpPr>
        <p:spPr>
          <a:xfrm>
            <a:off x="457200" y="1280160"/>
            <a:ext cx="4022640" cy="159948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640080" y="14630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6"/>
          <p:cNvSpPr/>
          <p:nvPr/>
        </p:nvSpPr>
        <p:spPr>
          <a:xfrm>
            <a:off x="1234440" y="14630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Vizualizačný podsystém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685800" y="196596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Stereoskopické renderovanie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72 – 120 fps (Meta Quest 3 / 3S)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Foveated rendering, URP (Quest) / OpenXR runtime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4663440" y="1280160"/>
            <a:ext cx="4022640" cy="15994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2"/>
          <a:stretch/>
        </p:blipFill>
        <p:spPr>
          <a:xfrm>
            <a:off x="4846320" y="146304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9"/>
          <p:cNvSpPr/>
          <p:nvPr/>
        </p:nvSpPr>
        <p:spPr>
          <a:xfrm>
            <a:off x="5440680" y="146304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Kinematický podsystém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0"/>
          <p:cNvSpPr/>
          <p:nvPr/>
        </p:nvSpPr>
        <p:spPr>
          <a:xfrm>
            <a:off x="4892040" y="196596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tracking hlavy a rúk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Hand tracking bez ovládačov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Teleportácia alebo smooth locomotion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"/>
          <p:cNvSpPr/>
          <p:nvPr/>
        </p:nvSpPr>
        <p:spPr>
          <a:xfrm>
            <a:off x="457200" y="3017520"/>
            <a:ext cx="4022640" cy="159948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3"/>
          <a:stretch/>
        </p:blipFill>
        <p:spPr>
          <a:xfrm>
            <a:off x="640080" y="3200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12"/>
          <p:cNvSpPr/>
          <p:nvPr/>
        </p:nvSpPr>
        <p:spPr>
          <a:xfrm>
            <a:off x="1234440" y="32004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Akustický podsystém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685800" y="370332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spatial audio pre alerty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Priestorový voice chat tímu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Ambisonics, atmosféra SOC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4663440" y="3017520"/>
            <a:ext cx="4022640" cy="159948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3" descr="preencoded.png"/>
          <p:cNvPicPr/>
          <p:nvPr/>
        </p:nvPicPr>
        <p:blipFill>
          <a:blip r:embed="rId4"/>
          <a:stretch/>
        </p:blipFill>
        <p:spPr>
          <a:xfrm>
            <a:off x="4846320" y="3200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5"/>
          <p:cNvSpPr/>
          <p:nvPr/>
        </p:nvSpPr>
        <p:spPr>
          <a:xfrm>
            <a:off x="5440680" y="3200400"/>
            <a:ext cx="31082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Simulačný engine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4892040" y="3703320"/>
            <a:ext cx="370260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JSON scenáre incidentov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SIEM logy (Splunk, QRadar)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Scoring a debriefing recorder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Virtuálny SOC priestor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Priestorové usporiadanie monitorov, staníc a dashboardov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457200" y="1280160"/>
            <a:ext cx="49370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57200" y="1371600"/>
            <a:ext cx="4937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Virtuálny SOC, pohľad zhora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2240280" y="3291840"/>
            <a:ext cx="1370880" cy="1005120"/>
          </a:xfrm>
          <a:prstGeom prst="ellipse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2240280" y="3291840"/>
            <a:ext cx="137088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9"/>
          <p:cNvSpPr/>
          <p:nvPr/>
        </p:nvSpPr>
        <p:spPr>
          <a:xfrm>
            <a:off x="685800" y="182880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685800" y="182880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SIEM Panel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160020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160020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Network Map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"/>
          <p:cNvSpPr/>
          <p:nvPr/>
        </p:nvSpPr>
        <p:spPr>
          <a:xfrm>
            <a:off x="265176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265176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 Viewer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3703320" y="169164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6"/>
          <p:cNvSpPr/>
          <p:nvPr/>
        </p:nvSpPr>
        <p:spPr>
          <a:xfrm>
            <a:off x="3703320" y="169164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Ticket System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7"/>
          <p:cNvSpPr/>
          <p:nvPr/>
        </p:nvSpPr>
        <p:spPr>
          <a:xfrm>
            <a:off x="4572000" y="1828800"/>
            <a:ext cx="1005120" cy="54792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8"/>
          <p:cNvSpPr/>
          <p:nvPr/>
        </p:nvSpPr>
        <p:spPr>
          <a:xfrm>
            <a:off x="4572000" y="1828800"/>
            <a:ext cx="10051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Team Status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9"/>
          <p:cNvSpPr/>
          <p:nvPr/>
        </p:nvSpPr>
        <p:spPr>
          <a:xfrm flipH="1" flipV="1">
            <a:off x="1188720" y="2377440"/>
            <a:ext cx="1737360" cy="91440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0"/>
          <p:cNvSpPr/>
          <p:nvPr/>
        </p:nvSpPr>
        <p:spPr>
          <a:xfrm flipH="1" flipV="1">
            <a:off x="2103120" y="2240280"/>
            <a:ext cx="82296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1"/>
          <p:cNvSpPr/>
          <p:nvPr/>
        </p:nvSpPr>
        <p:spPr>
          <a:xfrm flipV="1">
            <a:off x="2926080" y="2240280"/>
            <a:ext cx="22860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2"/>
          <p:cNvSpPr/>
          <p:nvPr/>
        </p:nvSpPr>
        <p:spPr>
          <a:xfrm flipV="1">
            <a:off x="2926080" y="2240280"/>
            <a:ext cx="1280160" cy="105156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3"/>
          <p:cNvSpPr/>
          <p:nvPr/>
        </p:nvSpPr>
        <p:spPr>
          <a:xfrm flipV="1">
            <a:off x="2926080" y="2377440"/>
            <a:ext cx="2148840" cy="914400"/>
          </a:xfrm>
          <a:prstGeom prst="line">
            <a:avLst/>
          </a:prstGeom>
          <a:ln w="12700">
            <a:solidFill>
              <a:srgbClr val="cbd5e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4"/>
          <p:cNvSpPr/>
          <p:nvPr/>
        </p:nvSpPr>
        <p:spPr>
          <a:xfrm>
            <a:off x="5577840" y="1280160"/>
            <a:ext cx="3108240" cy="3519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5"/>
          <p:cNvSpPr/>
          <p:nvPr/>
        </p:nvSpPr>
        <p:spPr>
          <a:xfrm>
            <a:off x="5715000" y="1417320"/>
            <a:ext cx="2833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Kľúčové vlastnosti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26"/>
          <p:cNvSpPr/>
          <p:nvPr/>
        </p:nvSpPr>
        <p:spPr>
          <a:xfrm>
            <a:off x="5760720" y="20574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7"/>
          <p:cNvSpPr/>
          <p:nvPr/>
        </p:nvSpPr>
        <p:spPr>
          <a:xfrm>
            <a:off x="5943600" y="196596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Meta Quest 3 ako primárna platforma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8"/>
          <p:cNvSpPr/>
          <p:nvPr/>
        </p:nvSpPr>
        <p:spPr>
          <a:xfrm>
            <a:off x="5760720" y="249624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9"/>
          <p:cNvSpPr/>
          <p:nvPr/>
        </p:nvSpPr>
        <p:spPr>
          <a:xfrm>
            <a:off x="5943600" y="240480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PC VR cez SteamVR OpenXR runtime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0"/>
          <p:cNvSpPr/>
          <p:nvPr/>
        </p:nvSpPr>
        <p:spPr>
          <a:xfrm>
            <a:off x="5760720" y="293508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1"/>
          <p:cNvSpPr/>
          <p:nvPr/>
        </p:nvSpPr>
        <p:spPr>
          <a:xfrm>
            <a:off x="5943600" y="284364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6DoF tracking a hand tracking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32"/>
          <p:cNvSpPr/>
          <p:nvPr/>
        </p:nvSpPr>
        <p:spPr>
          <a:xfrm>
            <a:off x="5760720" y="337428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3"/>
          <p:cNvSpPr/>
          <p:nvPr/>
        </p:nvSpPr>
        <p:spPr>
          <a:xfrm>
            <a:off x="5943600" y="328284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Teleportácia medzi stanicami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4"/>
          <p:cNvSpPr/>
          <p:nvPr/>
        </p:nvSpPr>
        <p:spPr>
          <a:xfrm>
            <a:off x="576072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5"/>
          <p:cNvSpPr/>
          <p:nvPr/>
        </p:nvSpPr>
        <p:spPr>
          <a:xfrm>
            <a:off x="5943600" y="372168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Shared state pre celý tím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6"/>
          <p:cNvSpPr/>
          <p:nvPr/>
        </p:nvSpPr>
        <p:spPr>
          <a:xfrm>
            <a:off x="5760720" y="425196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7"/>
          <p:cNvSpPr/>
          <p:nvPr/>
        </p:nvSpPr>
        <p:spPr>
          <a:xfrm>
            <a:off x="5943600" y="4160520"/>
            <a:ext cx="26510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Interakcia s Alert Cards v 3D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5 scenárov bezpečnostných incidentov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Každý scenár má vlastnú časovú os, logy, role a hodnotenie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"/>
          <p:cNvSpPr/>
          <p:nvPr/>
        </p:nvSpPr>
        <p:spPr>
          <a:xfrm>
            <a:off x="457200" y="1280160"/>
            <a:ext cx="1599480" cy="246816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Image 0" descr="preencoded.png"/>
          <p:cNvPicPr/>
          <p:nvPr/>
        </p:nvPicPr>
        <p:blipFill>
          <a:blip r:embed="rId1"/>
          <a:stretch/>
        </p:blipFill>
        <p:spPr>
          <a:xfrm>
            <a:off x="102888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 6"/>
          <p:cNvSpPr/>
          <p:nvPr/>
        </p:nvSpPr>
        <p:spPr>
          <a:xfrm>
            <a:off x="50292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Ransomware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54864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Šifrovanie dát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Port scan → SSH BF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→ Malware → Encrypt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8"/>
          <p:cNvSpPr/>
          <p:nvPr/>
        </p:nvSpPr>
        <p:spPr>
          <a:xfrm>
            <a:off x="2148840" y="1280160"/>
            <a:ext cx="1599480" cy="246816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Image 1" descr="preencoded.png"/>
          <p:cNvPicPr/>
          <p:nvPr/>
        </p:nvPicPr>
        <p:blipFill>
          <a:blip r:embed="rId2"/>
          <a:stretch/>
        </p:blipFill>
        <p:spPr>
          <a:xfrm>
            <a:off x="272052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 9"/>
          <p:cNvSpPr/>
          <p:nvPr/>
        </p:nvSpPr>
        <p:spPr>
          <a:xfrm>
            <a:off x="219456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Phishing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0"/>
          <p:cNvSpPr/>
          <p:nvPr/>
        </p:nvSpPr>
        <p:spPr>
          <a:xfrm>
            <a:off x="224028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150+ phish emailov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8 kompromitovaných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účtov, exfiltrácia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1"/>
          <p:cNvSpPr/>
          <p:nvPr/>
        </p:nvSpPr>
        <p:spPr>
          <a:xfrm>
            <a:off x="3840480" y="1280160"/>
            <a:ext cx="1599480" cy="2468160"/>
          </a:xfrm>
          <a:prstGeom prst="rect">
            <a:avLst/>
          </a:prstGeom>
          <a:solidFill>
            <a:srgbClr val="fed7aa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Image 2" descr="preencoded.png"/>
          <p:cNvPicPr/>
          <p:nvPr/>
        </p:nvPicPr>
        <p:blipFill>
          <a:blip r:embed="rId3"/>
          <a:stretch/>
        </p:blipFill>
        <p:spPr>
          <a:xfrm>
            <a:off x="441216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2"/>
          <p:cNvSpPr/>
          <p:nvPr/>
        </p:nvSpPr>
        <p:spPr>
          <a:xfrm>
            <a:off x="388620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DDoS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3"/>
          <p:cNvSpPr/>
          <p:nvPr/>
        </p:nvSpPr>
        <p:spPr>
          <a:xfrm>
            <a:off x="393192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50k req/s na server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WAF aktivácia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botnet filtrovanie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4"/>
          <p:cNvSpPr/>
          <p:nvPr/>
        </p:nvSpPr>
        <p:spPr>
          <a:xfrm>
            <a:off x="5532120" y="1280160"/>
            <a:ext cx="1599480" cy="2468160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Image 3" descr="preencoded.png"/>
          <p:cNvPicPr/>
          <p:nvPr/>
        </p:nvPicPr>
        <p:blipFill>
          <a:blip r:embed="rId4"/>
          <a:stretch/>
        </p:blipFill>
        <p:spPr>
          <a:xfrm>
            <a:off x="610380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Text 15"/>
          <p:cNvSpPr/>
          <p:nvPr/>
        </p:nvSpPr>
        <p:spPr>
          <a:xfrm>
            <a:off x="557784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Insider Threat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562356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Prístup o 2:30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Data staging 2,3 GB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exfiltrácia na Drive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7"/>
          <p:cNvSpPr/>
          <p:nvPr/>
        </p:nvSpPr>
        <p:spPr>
          <a:xfrm>
            <a:off x="7223760" y="1280160"/>
            <a:ext cx="1599480" cy="246816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0" name="Image 4" descr="preencoded.png"/>
          <p:cNvPicPr/>
          <p:nvPr/>
        </p:nvPicPr>
        <p:blipFill>
          <a:blip r:embed="rId5"/>
          <a:stretch/>
        </p:blipFill>
        <p:spPr>
          <a:xfrm>
            <a:off x="7795440" y="141732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 18"/>
          <p:cNvSpPr/>
          <p:nvPr/>
        </p:nvSpPr>
        <p:spPr>
          <a:xfrm>
            <a:off x="7269480" y="1920240"/>
            <a:ext cx="1508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SQL Injection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7315200" y="2286000"/>
            <a:ext cx="141660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SQL v URL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5 200 účtov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exfiltrácia z DB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0"/>
          <p:cNvSpPr/>
          <p:nvPr/>
        </p:nvSpPr>
        <p:spPr>
          <a:xfrm>
            <a:off x="457200" y="3977640"/>
            <a:ext cx="8228880" cy="7765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640080" y="4023360"/>
            <a:ext cx="7863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Role v každom scenári: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2"/>
          <p:cNvSpPr/>
          <p:nvPr/>
        </p:nvSpPr>
        <p:spPr>
          <a:xfrm>
            <a:off x="640080" y="4297680"/>
            <a:ext cx="78631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ANALYST   |   FORENSICS SPECIALIST   |   INCIDENT HANDLER   |   ADMIN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Scenár: Ransomware útok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Príklad detailného workflow, krok za krokom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5"/>
          <p:cNvSpPr/>
          <p:nvPr/>
        </p:nvSpPr>
        <p:spPr>
          <a:xfrm>
            <a:off x="1143000" y="1371600"/>
            <a:ext cx="593640" cy="5936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6"/>
          <p:cNvSpPr/>
          <p:nvPr/>
        </p:nvSpPr>
        <p:spPr>
          <a:xfrm>
            <a:off x="114300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7"/>
          <p:cNvSpPr/>
          <p:nvPr/>
        </p:nvSpPr>
        <p:spPr>
          <a:xfrm>
            <a:off x="45720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Port Scan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8"/>
          <p:cNvSpPr/>
          <p:nvPr/>
        </p:nvSpPr>
        <p:spPr>
          <a:xfrm>
            <a:off x="45720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Medium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9"/>
          <p:cNvSpPr/>
          <p:nvPr/>
        </p:nvSpPr>
        <p:spPr>
          <a:xfrm>
            <a:off x="182880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0"/>
          <p:cNvSpPr/>
          <p:nvPr/>
        </p:nvSpPr>
        <p:spPr>
          <a:xfrm>
            <a:off x="3246120" y="1371600"/>
            <a:ext cx="593640" cy="593640"/>
          </a:xfrm>
          <a:prstGeom prst="ellipse">
            <a:avLst/>
          </a:prstGeom>
          <a:solidFill>
            <a:srgbClr val="f973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1"/>
          <p:cNvSpPr/>
          <p:nvPr/>
        </p:nvSpPr>
        <p:spPr>
          <a:xfrm>
            <a:off x="324612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2"/>
          <p:cNvSpPr/>
          <p:nvPr/>
        </p:nvSpPr>
        <p:spPr>
          <a:xfrm>
            <a:off x="256032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Brute Force SSH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3"/>
          <p:cNvSpPr/>
          <p:nvPr/>
        </p:nvSpPr>
        <p:spPr>
          <a:xfrm>
            <a:off x="256032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High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4"/>
          <p:cNvSpPr/>
          <p:nvPr/>
        </p:nvSpPr>
        <p:spPr>
          <a:xfrm>
            <a:off x="393192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5"/>
          <p:cNvSpPr/>
          <p:nvPr/>
        </p:nvSpPr>
        <p:spPr>
          <a:xfrm>
            <a:off x="5349240" y="1371600"/>
            <a:ext cx="593640" cy="5936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6"/>
          <p:cNvSpPr/>
          <p:nvPr/>
        </p:nvSpPr>
        <p:spPr>
          <a:xfrm>
            <a:off x="534924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7"/>
          <p:cNvSpPr/>
          <p:nvPr/>
        </p:nvSpPr>
        <p:spPr>
          <a:xfrm>
            <a:off x="466344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Malware Injection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8"/>
          <p:cNvSpPr/>
          <p:nvPr/>
        </p:nvSpPr>
        <p:spPr>
          <a:xfrm>
            <a:off x="466344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Critical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9"/>
          <p:cNvSpPr/>
          <p:nvPr/>
        </p:nvSpPr>
        <p:spPr>
          <a:xfrm>
            <a:off x="6035040" y="1668600"/>
            <a:ext cx="640080" cy="360"/>
          </a:xfrm>
          <a:prstGeom prst="line">
            <a:avLst/>
          </a:prstGeom>
          <a:ln w="25400">
            <a:solidFill>
              <a:srgbClr val="17b7d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0"/>
          <p:cNvSpPr/>
          <p:nvPr/>
        </p:nvSpPr>
        <p:spPr>
          <a:xfrm>
            <a:off x="7452360" y="1371600"/>
            <a:ext cx="593640" cy="59364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1"/>
          <p:cNvSpPr/>
          <p:nvPr/>
        </p:nvSpPr>
        <p:spPr>
          <a:xfrm>
            <a:off x="7452360" y="1371600"/>
            <a:ext cx="593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2"/>
          <p:cNvSpPr/>
          <p:nvPr/>
        </p:nvSpPr>
        <p:spPr>
          <a:xfrm>
            <a:off x="6766560" y="205740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File Encryption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3"/>
          <p:cNvSpPr/>
          <p:nvPr/>
        </p:nvSpPr>
        <p:spPr>
          <a:xfrm>
            <a:off x="6766560" y="2331720"/>
            <a:ext cx="196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Alert: Critical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Table 0"/>
          <p:cNvGraphicFramePr/>
          <p:nvPr/>
        </p:nvGraphicFramePr>
        <p:xfrm>
          <a:off x="457200" y="2834640"/>
          <a:ext cx="8229240" cy="17370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2286000"/>
              </a:tblGrid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Rola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Hlavná úloha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Nástroje v SOC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ANALYST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Detekuje alerty, klasifikuje typ útoku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SIEM Panel, Alert Cards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FORENSICS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Analyzuje logy, rekonštruuje stopu útočníka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 Viewer, Timeline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INC. HANDLER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Izoluje napadnuté zariadenia, zastavuje šírenie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Network Map, Firewall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0b244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ADMIN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Resetuje heslá, obnovuje systém zo zálohy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Ticket System, Backup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Systém hodnotenia a debriefing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Ako sa meria výkon a čo dostane študent po skončení simulácie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45720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6"/>
          <p:cNvSpPr/>
          <p:nvPr/>
        </p:nvSpPr>
        <p:spPr>
          <a:xfrm>
            <a:off x="45720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7"/>
          <p:cNvSpPr/>
          <p:nvPr/>
        </p:nvSpPr>
        <p:spPr>
          <a:xfrm>
            <a:off x="45720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30 %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54864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Rýchlosť detekcie (MTTD)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9"/>
          <p:cNvSpPr/>
          <p:nvPr/>
        </p:nvSpPr>
        <p:spPr>
          <a:xfrm>
            <a:off x="59436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Čas od prvého alertu po identifikáciu incidentu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324612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324612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324612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40 %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3"/>
          <p:cNvSpPr/>
          <p:nvPr/>
        </p:nvSpPr>
        <p:spPr>
          <a:xfrm>
            <a:off x="333756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Správnosť rozhodnutí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338328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Percento správnych akcií počas celého incidentu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15"/>
          <p:cNvSpPr/>
          <p:nvPr/>
        </p:nvSpPr>
        <p:spPr>
          <a:xfrm>
            <a:off x="6035040" y="1280160"/>
            <a:ext cx="2651040" cy="1690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6"/>
          <p:cNvSpPr/>
          <p:nvPr/>
        </p:nvSpPr>
        <p:spPr>
          <a:xfrm>
            <a:off x="603504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7"/>
          <p:cNvSpPr/>
          <p:nvPr/>
        </p:nvSpPr>
        <p:spPr>
          <a:xfrm>
            <a:off x="6035040" y="14173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30 %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8"/>
          <p:cNvSpPr/>
          <p:nvPr/>
        </p:nvSpPr>
        <p:spPr>
          <a:xfrm>
            <a:off x="6126480" y="2011680"/>
            <a:ext cx="2468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Minimalizácia škôd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9"/>
          <p:cNvSpPr/>
          <p:nvPr/>
        </p:nvSpPr>
        <p:spPr>
          <a:xfrm>
            <a:off x="6172200" y="2377440"/>
            <a:ext cx="23767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Koľko systémov a dát bolo zachránených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0"/>
          <p:cNvSpPr/>
          <p:nvPr/>
        </p:nvSpPr>
        <p:spPr>
          <a:xfrm>
            <a:off x="457200" y="3200400"/>
            <a:ext cx="8228880" cy="159948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1"/>
          <p:cNvSpPr/>
          <p:nvPr/>
        </p:nvSpPr>
        <p:spPr>
          <a:xfrm>
            <a:off x="457200" y="3200400"/>
            <a:ext cx="72360" cy="159948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2"/>
          <p:cNvSpPr/>
          <p:nvPr/>
        </p:nvSpPr>
        <p:spPr>
          <a:xfrm>
            <a:off x="685800" y="3291840"/>
            <a:ext cx="7771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Debriefing mód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3"/>
          <p:cNvSpPr/>
          <p:nvPr/>
        </p:nvSpPr>
        <p:spPr>
          <a:xfrm>
            <a:off x="82296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4"/>
          <p:cNvSpPr/>
          <p:nvPr/>
        </p:nvSpPr>
        <p:spPr>
          <a:xfrm>
            <a:off x="1024200" y="3703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3D replay útoku na Network Map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5"/>
          <p:cNvSpPr/>
          <p:nvPr/>
        </p:nvSpPr>
        <p:spPr>
          <a:xfrm>
            <a:off x="4846320" y="381312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6"/>
          <p:cNvSpPr/>
          <p:nvPr/>
        </p:nvSpPr>
        <p:spPr>
          <a:xfrm>
            <a:off x="5047560" y="370332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Zelené a červené značky rozhodnutí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7"/>
          <p:cNvSpPr/>
          <p:nvPr/>
        </p:nvSpPr>
        <p:spPr>
          <a:xfrm>
            <a:off x="822960" y="42246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8"/>
          <p:cNvSpPr/>
          <p:nvPr/>
        </p:nvSpPr>
        <p:spPr>
          <a:xfrm>
            <a:off x="1024200" y="41148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Individuálne hodnotenie pre každú rolu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9"/>
          <p:cNvSpPr/>
          <p:nvPr/>
        </p:nvSpPr>
        <p:spPr>
          <a:xfrm>
            <a:off x="4846320" y="4224600"/>
            <a:ext cx="109080" cy="109080"/>
          </a:xfrm>
          <a:prstGeom prst="ellipse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0"/>
          <p:cNvSpPr/>
          <p:nvPr/>
        </p:nvSpPr>
        <p:spPr>
          <a:xfrm>
            <a:off x="5047560" y="4114800"/>
            <a:ext cx="37483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Časová os celého incidentu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1"/>
          <p:cNvSpPr/>
          <p:nvPr/>
        </p:nvSpPr>
        <p:spPr>
          <a:xfrm>
            <a:off x="822960" y="4480560"/>
            <a:ext cx="7314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Export debriefing reportu ako PDF pre hodnotenie učiteľom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Porovnanie s existujúcimi platformami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Prečo žiadna iná platforma nerieši rovnaký problém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8" name="Table 0"/>
          <p:cNvGraphicFramePr/>
          <p:nvPr/>
        </p:nvGraphicFramePr>
        <p:xfrm>
          <a:off x="457200" y="1280160"/>
          <a:ext cx="8228880" cy="2366280"/>
        </p:xfrm>
        <a:graphic>
          <a:graphicData uri="http://schemas.openxmlformats.org/drawingml/2006/table">
            <a:tbl>
              <a:tblPr/>
              <a:tblGrid>
                <a:gridCol w="2377440"/>
                <a:gridCol w="1170360"/>
                <a:gridCol w="1170360"/>
                <a:gridCol w="1170360"/>
                <a:gridCol w="1170360"/>
                <a:gridCol w="1170360"/>
              </a:tblGrid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Platforma</a:t>
                      </a:r>
                      <a:endParaRPr b="0" lang="en-US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VR/XR</a:t>
                      </a:r>
                      <a:endParaRPr b="0" lang="en-US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Sim. inc.</a:t>
                      </a:r>
                      <a:endParaRPr b="0" lang="en-US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Tím</a:t>
                      </a:r>
                      <a:endParaRPr b="0" lang="en-US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SK/CZ</a:t>
                      </a:r>
                      <a:endParaRPr b="0" lang="en-US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Školy</a:t>
                      </a:r>
                      <a:endParaRPr b="0" lang="en-US" sz="115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0b2447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0284a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CyberLab XR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solidFill>
                      <a:srgbClr val="e3f2fd"/>
                    </a:solidFill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TryHackMe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HackTheBox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Cyberbit Range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CyberStrike VR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338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trike="noStrike" u="none">
                          <a:solidFill>
                            <a:srgbClr val="1e293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SANS Cyber Ranges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10b98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✓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f59e0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~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trike="noStrike" u="none">
                          <a:solidFill>
                            <a:srgbClr val="ef444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✕</a:t>
                      </a:r>
                      <a:endParaRPr b="0" lang="en-US" sz="11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cbd5e1"/>
                      </a:solidFill>
                      <a:prstDash val="solid"/>
                    </a:lnL>
                    <a:lnR w="6480">
                      <a:solidFill>
                        <a:srgbClr val="cbd5e1"/>
                      </a:solidFill>
                      <a:prstDash val="solid"/>
                    </a:lnR>
                    <a:lnT w="6480">
                      <a:solidFill>
                        <a:srgbClr val="cbd5e1"/>
                      </a:solidFill>
                      <a:prstDash val="solid"/>
                    </a:lnT>
                    <a:lnB w="648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9" name="Shape 5"/>
          <p:cNvSpPr/>
          <p:nvPr/>
        </p:nvSpPr>
        <p:spPr>
          <a:xfrm>
            <a:off x="457200" y="4114800"/>
            <a:ext cx="8228880" cy="68508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6"/>
          <p:cNvSpPr/>
          <p:nvPr/>
        </p:nvSpPr>
        <p:spPr>
          <a:xfrm>
            <a:off x="640080" y="4160520"/>
            <a:ext cx="7863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Prečo tieto platformy? </a:t>
            </a: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Reprezentujú rôzne kategórie: web laby (TryHackMe, HackTheBox), enterprise simulátory (Cyberbit), VR hry (CyberStrike) a prof. školenia (SANS). Immersive Labs a RangeForce sme vynechali, sú príliš podobné TryHackMe.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MoSCoW prioritizácia funkcionalít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musí byť v prvom vydaní a čo môže prísť neskôr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5"/>
          <p:cNvSpPr/>
          <p:nvPr/>
        </p:nvSpPr>
        <p:spPr>
          <a:xfrm>
            <a:off x="457200" y="1280160"/>
            <a:ext cx="4022640" cy="169092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6"/>
          <p:cNvSpPr/>
          <p:nvPr/>
        </p:nvSpPr>
        <p:spPr>
          <a:xfrm>
            <a:off x="457200" y="1280160"/>
            <a:ext cx="4022640" cy="34668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7"/>
          <p:cNvSpPr/>
          <p:nvPr/>
        </p:nvSpPr>
        <p:spPr>
          <a:xfrm>
            <a:off x="640080" y="128016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MUST HAVE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8"/>
          <p:cNvSpPr/>
          <p:nvPr/>
        </p:nvSpPr>
        <p:spPr>
          <a:xfrm>
            <a:off x="640080" y="169164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virtuálne SOC prostredie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Meta Quest 3 cez Unity 6.3 LTS + OpenXR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Jeden hrateľný scenár (Ransomware)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SIEM panel simulátor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tracking, raycast interakcie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Scoring a debriefing mód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9"/>
          <p:cNvSpPr/>
          <p:nvPr/>
        </p:nvSpPr>
        <p:spPr>
          <a:xfrm>
            <a:off x="4663440" y="1280160"/>
            <a:ext cx="4022640" cy="16909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0"/>
          <p:cNvSpPr/>
          <p:nvPr/>
        </p:nvSpPr>
        <p:spPr>
          <a:xfrm>
            <a:off x="4663440" y="1280160"/>
            <a:ext cx="4022640" cy="34668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1"/>
          <p:cNvSpPr/>
          <p:nvPr/>
        </p:nvSpPr>
        <p:spPr>
          <a:xfrm>
            <a:off x="4846320" y="128016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SHOULD HAVE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12"/>
          <p:cNvSpPr/>
          <p:nvPr/>
        </p:nvSpPr>
        <p:spPr>
          <a:xfrm>
            <a:off x="4846320" y="169164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Tri režimy: Explorer / Analyst / Pro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Tímový mód 2 až 4 hráči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Role systém (Analyst, Forensics, Handler, Admin)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3D spatial audio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SK/CZ lokalizácia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Companion režim pre tablety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3"/>
          <p:cNvSpPr/>
          <p:nvPr/>
        </p:nvSpPr>
        <p:spPr>
          <a:xfrm>
            <a:off x="457200" y="3063240"/>
            <a:ext cx="4022640" cy="1690920"/>
          </a:xfrm>
          <a:prstGeom prst="rect">
            <a:avLst/>
          </a:prstGeom>
          <a:solidFill>
            <a:srgbClr val="ede9fe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14"/>
          <p:cNvSpPr/>
          <p:nvPr/>
        </p:nvSpPr>
        <p:spPr>
          <a:xfrm>
            <a:off x="457200" y="3063240"/>
            <a:ext cx="4022640" cy="3466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5"/>
          <p:cNvSpPr/>
          <p:nvPr/>
        </p:nvSpPr>
        <p:spPr>
          <a:xfrm>
            <a:off x="640080" y="30632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COULD HAVE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6"/>
          <p:cNvSpPr/>
          <p:nvPr/>
        </p:nvSpPr>
        <p:spPr>
          <a:xfrm>
            <a:off x="640080" y="347472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AR mód (OpenXR kompatibilné zariadenia)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Eye tracking + foveated rendering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Editor vlastných scenárov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LMS integrácia (Moodle, Canvas)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Leaderboard medzi školami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7"/>
          <p:cNvSpPr/>
          <p:nvPr/>
        </p:nvSpPr>
        <p:spPr>
          <a:xfrm>
            <a:off x="4663440" y="3063240"/>
            <a:ext cx="4022640" cy="16909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18"/>
          <p:cNvSpPr/>
          <p:nvPr/>
        </p:nvSpPr>
        <p:spPr>
          <a:xfrm>
            <a:off x="4663440" y="3063240"/>
            <a:ext cx="4022640" cy="34668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9"/>
          <p:cNvSpPr/>
          <p:nvPr/>
        </p:nvSpPr>
        <p:spPr>
          <a:xfrm>
            <a:off x="4846320" y="3063240"/>
            <a:ext cx="36568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WON'T HAVE (táto fáza)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0"/>
          <p:cNvSpPr/>
          <p:nvPr/>
        </p:nvSpPr>
        <p:spPr>
          <a:xfrm>
            <a:off x="4846320" y="3474720"/>
            <a:ext cx="37026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Autonómni AI protivníci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Integrácia s produkčnými SIEM (API)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Mobilná 2D verzia bez VR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Cloudový globálny multiplayer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Certifikačné testy (Security+, CEH)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Hardvér a XR technológie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Primárne headsety a doplnkové zariadenia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5"/>
          <p:cNvSpPr/>
          <p:nvPr/>
        </p:nvSpPr>
        <p:spPr>
          <a:xfrm>
            <a:off x="457200" y="1280160"/>
            <a:ext cx="2651040" cy="20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6"/>
          <p:cNvSpPr/>
          <p:nvPr/>
        </p:nvSpPr>
        <p:spPr>
          <a:xfrm>
            <a:off x="45720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9" name="Image 0" descr="preencoded.png"/>
          <p:cNvPicPr/>
          <p:nvPr/>
        </p:nvPicPr>
        <p:blipFill>
          <a:blip r:embed="rId1"/>
          <a:stretch/>
        </p:blipFill>
        <p:spPr>
          <a:xfrm>
            <a:off x="64008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 7"/>
          <p:cNvSpPr/>
          <p:nvPr/>
        </p:nvSpPr>
        <p:spPr>
          <a:xfrm>
            <a:off x="1097280" y="141732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Meta Quest 3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8"/>
          <p:cNvSpPr/>
          <p:nvPr/>
        </p:nvSpPr>
        <p:spPr>
          <a:xfrm>
            <a:off x="1097280" y="1645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Primárna platforma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9"/>
          <p:cNvSpPr/>
          <p:nvPr/>
        </p:nvSpPr>
        <p:spPr>
          <a:xfrm>
            <a:off x="640080" y="1920240"/>
            <a:ext cx="237672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Standalone, bez PC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2064 x 2208 px/oko, 90 Hz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6DoF + hand tracking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Snapdragon XR2 Gen 2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3246120" y="1280160"/>
            <a:ext cx="2651040" cy="20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1"/>
          <p:cNvSpPr/>
          <p:nvPr/>
        </p:nvSpPr>
        <p:spPr>
          <a:xfrm>
            <a:off x="324612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5" name="Image 1" descr="preencoded.png"/>
          <p:cNvPicPr/>
          <p:nvPr/>
        </p:nvPicPr>
        <p:blipFill>
          <a:blip r:embed="rId2"/>
          <a:stretch/>
        </p:blipFill>
        <p:spPr>
          <a:xfrm>
            <a:off x="342900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 12"/>
          <p:cNvSpPr/>
          <p:nvPr/>
        </p:nvSpPr>
        <p:spPr>
          <a:xfrm>
            <a:off x="3886200" y="141732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Meta Quest 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3"/>
          <p:cNvSpPr/>
          <p:nvPr/>
        </p:nvSpPr>
        <p:spPr>
          <a:xfrm>
            <a:off x="3886200" y="1645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Kompatibilný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4"/>
          <p:cNvSpPr/>
          <p:nvPr/>
        </p:nvSpPr>
        <p:spPr>
          <a:xfrm>
            <a:off x="3429000" y="1920240"/>
            <a:ext cx="237672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Plná kompatibilita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Nižšia grafická kvalita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Dostupnejšia cena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Ideálny pre väčšie triedy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5"/>
          <p:cNvSpPr/>
          <p:nvPr/>
        </p:nvSpPr>
        <p:spPr>
          <a:xfrm>
            <a:off x="6035040" y="1280160"/>
            <a:ext cx="2651040" cy="2056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6"/>
          <p:cNvSpPr/>
          <p:nvPr/>
        </p:nvSpPr>
        <p:spPr>
          <a:xfrm>
            <a:off x="6035040" y="1280160"/>
            <a:ext cx="26510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2" descr="preencoded.png"/>
          <p:cNvPicPr/>
          <p:nvPr/>
        </p:nvPicPr>
        <p:blipFill>
          <a:blip r:embed="rId3"/>
          <a:stretch/>
        </p:blipFill>
        <p:spPr>
          <a:xfrm>
            <a:off x="621792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17"/>
          <p:cNvSpPr/>
          <p:nvPr/>
        </p:nvSpPr>
        <p:spPr>
          <a:xfrm>
            <a:off x="6675120" y="1417320"/>
            <a:ext cx="19195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PC VR – SteamVR (OpenXR runtime)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8"/>
          <p:cNvSpPr/>
          <p:nvPr/>
        </p:nvSpPr>
        <p:spPr>
          <a:xfrm>
            <a:off x="6675120" y="1645920"/>
            <a:ext cx="19195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Pokročilý mód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9"/>
          <p:cNvSpPr/>
          <p:nvPr/>
        </p:nvSpPr>
        <p:spPr>
          <a:xfrm>
            <a:off x="6217920" y="1920240"/>
            <a:ext cx="2376720" cy="13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RTX 2070+, 16 GB RAM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OpenXR kompatibilné headsety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Vyššia grafická kvalita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b="0" lang="en-US" sz="9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Pre náročnejší rendering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20"/>
          <p:cNvSpPr/>
          <p:nvPr/>
        </p:nvSpPr>
        <p:spPr>
          <a:xfrm>
            <a:off x="457200" y="34747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Doplnkové XR technológie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21"/>
          <p:cNvSpPr/>
          <p:nvPr/>
        </p:nvSpPr>
        <p:spPr>
          <a:xfrm>
            <a:off x="457200" y="3794760"/>
            <a:ext cx="4022640" cy="10051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Image 3" descr="preencoded.png"/>
          <p:cNvPicPr/>
          <p:nvPr/>
        </p:nvPicPr>
        <p:blipFill>
          <a:blip r:embed="rId4"/>
          <a:stretch/>
        </p:blipFill>
        <p:spPr>
          <a:xfrm>
            <a:off x="640080" y="39776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 22"/>
          <p:cNvSpPr/>
          <p:nvPr/>
        </p:nvSpPr>
        <p:spPr>
          <a:xfrm>
            <a:off x="1280160" y="38862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Tablety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3"/>
          <p:cNvSpPr/>
          <p:nvPr/>
        </p:nvSpPr>
        <p:spPr>
          <a:xfrm>
            <a:off x="1280160" y="4160520"/>
            <a:ext cx="3108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Instruktorský dashboard, companion režim, observer mód pre spolužiakov bez headsetu.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4"/>
          <p:cNvSpPr/>
          <p:nvPr/>
        </p:nvSpPr>
        <p:spPr>
          <a:xfrm>
            <a:off x="4663440" y="3794760"/>
            <a:ext cx="4022640" cy="100512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Image 4" descr="preencoded.png"/>
          <p:cNvPicPr/>
          <p:nvPr/>
        </p:nvPicPr>
        <p:blipFill>
          <a:blip r:embed="rId5"/>
          <a:stretch/>
        </p:blipFill>
        <p:spPr>
          <a:xfrm>
            <a:off x="4846320" y="39776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Text 25"/>
          <p:cNvSpPr/>
          <p:nvPr/>
        </p:nvSpPr>
        <p:spPr>
          <a:xfrm>
            <a:off x="5486400" y="3886200"/>
            <a:ext cx="3108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Eye tracking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6"/>
          <p:cNvSpPr/>
          <p:nvPr/>
        </p:nvSpPr>
        <p:spPr>
          <a:xfrm>
            <a:off x="5486400" y="4160520"/>
            <a:ext cx="31082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Foveated rendering pre vyšší výkon a analýza pohľadu v debriefingu (Meta Quest Pro).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Použité nástroje pri tvorbe projektu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AI a vývojové nástroje, ktoré sme reálne využili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5"/>
          <p:cNvSpPr/>
          <p:nvPr/>
        </p:nvSpPr>
        <p:spPr>
          <a:xfrm>
            <a:off x="457200" y="128016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6"/>
          <p:cNvSpPr/>
          <p:nvPr/>
        </p:nvSpPr>
        <p:spPr>
          <a:xfrm>
            <a:off x="457200" y="128016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age 0" descr="preencoded.png"/>
          <p:cNvPicPr/>
          <p:nvPr/>
        </p:nvPicPr>
        <p:blipFill>
          <a:blip r:embed="rId1"/>
          <a:stretch/>
        </p:blipFill>
        <p:spPr>
          <a:xfrm>
            <a:off x="685800" y="14630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Text 7"/>
          <p:cNvSpPr/>
          <p:nvPr/>
        </p:nvSpPr>
        <p:spPr>
          <a:xfrm>
            <a:off x="1325880" y="1417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Claude (Anthropic)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1325880" y="167328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AI, obrazový generátor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685800" y="199332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Vygenerovanie favicony a loga CyberLab XR. Asistencia pri revízii a štrukturovaní dokumentácie.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4663440" y="128016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1"/>
          <p:cNvSpPr/>
          <p:nvPr/>
        </p:nvSpPr>
        <p:spPr>
          <a:xfrm>
            <a:off x="4663440" y="128016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1" descr="preencoded.png"/>
          <p:cNvPicPr/>
          <p:nvPr/>
        </p:nvPicPr>
        <p:blipFill>
          <a:blip r:embed="rId2"/>
          <a:stretch/>
        </p:blipFill>
        <p:spPr>
          <a:xfrm>
            <a:off x="4892040" y="146304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Text 12"/>
          <p:cNvSpPr/>
          <p:nvPr/>
        </p:nvSpPr>
        <p:spPr>
          <a:xfrm>
            <a:off x="5532120" y="141732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Git a GitHub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3"/>
          <p:cNvSpPr/>
          <p:nvPr/>
        </p:nvSpPr>
        <p:spPr>
          <a:xfrm>
            <a:off x="5532120" y="167328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Verziovanie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4"/>
          <p:cNvSpPr/>
          <p:nvPr/>
        </p:nvSpPr>
        <p:spPr>
          <a:xfrm>
            <a:off x="4892040" y="199332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Správa zdrojového kódu a dokumentácie, publikovanie cez GitHub Pages.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15"/>
          <p:cNvSpPr/>
          <p:nvPr/>
        </p:nvSpPr>
        <p:spPr>
          <a:xfrm>
            <a:off x="457200" y="269748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16"/>
          <p:cNvSpPr/>
          <p:nvPr/>
        </p:nvSpPr>
        <p:spPr>
          <a:xfrm>
            <a:off x="457200" y="269748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Image 2" descr="preencoded.png"/>
          <p:cNvPicPr/>
          <p:nvPr/>
        </p:nvPicPr>
        <p:blipFill>
          <a:blip r:embed="rId3"/>
          <a:stretch/>
        </p:blipFill>
        <p:spPr>
          <a:xfrm>
            <a:off x="685800" y="288036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17"/>
          <p:cNvSpPr/>
          <p:nvPr/>
        </p:nvSpPr>
        <p:spPr>
          <a:xfrm>
            <a:off x="1325880" y="28346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Unity 6.3 LTS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1325880" y="309060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Vývojové prostredie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9"/>
          <p:cNvSpPr/>
          <p:nvPr/>
        </p:nvSpPr>
        <p:spPr>
          <a:xfrm>
            <a:off x="685800" y="341064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Plánovaná platforma pre implementáciu VR prototypu od verzie v2.0. Najnovší LTS (december 2025), natívna podpora OpenXR, Meta XR SDK a URP pre Quest.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0"/>
          <p:cNvSpPr/>
          <p:nvPr/>
        </p:nvSpPr>
        <p:spPr>
          <a:xfrm>
            <a:off x="4663440" y="2697480"/>
            <a:ext cx="4022640" cy="1279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21"/>
          <p:cNvSpPr/>
          <p:nvPr/>
        </p:nvSpPr>
        <p:spPr>
          <a:xfrm>
            <a:off x="4663440" y="2697480"/>
            <a:ext cx="72360" cy="127944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9" name="Image 3" descr="preencoded.png"/>
          <p:cNvPicPr/>
          <p:nvPr/>
        </p:nvPicPr>
        <p:blipFill>
          <a:blip r:embed="rId4"/>
          <a:stretch/>
        </p:blipFill>
        <p:spPr>
          <a:xfrm>
            <a:off x="4892040" y="2880360"/>
            <a:ext cx="502200" cy="5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 22"/>
          <p:cNvSpPr/>
          <p:nvPr/>
        </p:nvSpPr>
        <p:spPr>
          <a:xfrm>
            <a:off x="5532120" y="28346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Figma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3"/>
          <p:cNvSpPr/>
          <p:nvPr/>
        </p:nvSpPr>
        <p:spPr>
          <a:xfrm>
            <a:off x="5532120" y="3090600"/>
            <a:ext cx="3016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trike="noStrike" u="none">
                <a:solidFill>
                  <a:srgbClr val="0284a8"/>
                </a:solidFill>
                <a:effectLst/>
                <a:uFillTx/>
                <a:latin typeface="Calibri"/>
                <a:ea typeface="Calibri"/>
              </a:rPr>
              <a:t>UI/UX nástroj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4"/>
          <p:cNvSpPr/>
          <p:nvPr/>
        </p:nvSpPr>
        <p:spPr>
          <a:xfrm>
            <a:off x="4892040" y="3410640"/>
            <a:ext cx="3702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Skice rozloženia SOC monitorov a dashboardov, pracovné wireframe.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25"/>
          <p:cNvSpPr/>
          <p:nvPr/>
        </p:nvSpPr>
        <p:spPr>
          <a:xfrm>
            <a:off x="457200" y="4251960"/>
            <a:ext cx="8228880" cy="54792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26"/>
          <p:cNvSpPr/>
          <p:nvPr/>
        </p:nvSpPr>
        <p:spPr>
          <a:xfrm>
            <a:off x="640080" y="4297680"/>
            <a:ext cx="78631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Poznámka: </a:t>
            </a:r>
            <a:r>
              <a:rPr b="0" i="1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Textová časť je v prevažnej miere dielom autorov. AI bol použitý iba pri revízii, formálnej kontrole a generovaní loga.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Použité webové zdroje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Referencie, z ktorých sme vychádzali pri návrhu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"/>
          <p:cNvSpPr/>
          <p:nvPr/>
        </p:nvSpPr>
        <p:spPr>
          <a:xfrm>
            <a:off x="457200" y="128016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6"/>
          <p:cNvSpPr/>
          <p:nvPr/>
        </p:nvSpPr>
        <p:spPr>
          <a:xfrm>
            <a:off x="457200" y="128016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2" name="Image 0" descr="preencoded.png"/>
          <p:cNvPicPr/>
          <p:nvPr/>
        </p:nvPicPr>
        <p:blipFill>
          <a:blip r:embed="rId1"/>
          <a:stretch/>
        </p:blipFill>
        <p:spPr>
          <a:xfrm>
            <a:off x="640080" y="1481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Text 7"/>
          <p:cNvSpPr/>
          <p:nvPr/>
        </p:nvSpPr>
        <p:spPr>
          <a:xfrm>
            <a:off x="1234440" y="148140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MITRE ATT&amp;CK Framework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8"/>
          <p:cNvSpPr/>
          <p:nvPr/>
        </p:nvSpPr>
        <p:spPr>
          <a:xfrm>
            <a:off x="1234440" y="175572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attack.mitre.org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9"/>
          <p:cNvSpPr/>
          <p:nvPr/>
        </p:nvSpPr>
        <p:spPr>
          <a:xfrm>
            <a:off x="685800" y="210312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Klasifikácia útokových techník. Inšpirácia pre priebeh scenárov a časové osi.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0"/>
          <p:cNvSpPr/>
          <p:nvPr/>
        </p:nvSpPr>
        <p:spPr>
          <a:xfrm>
            <a:off x="4663440" y="128016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11"/>
          <p:cNvSpPr/>
          <p:nvPr/>
        </p:nvSpPr>
        <p:spPr>
          <a:xfrm>
            <a:off x="4663440" y="128016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8" name="Image 1" descr="preencoded.png"/>
          <p:cNvPicPr/>
          <p:nvPr/>
        </p:nvPicPr>
        <p:blipFill>
          <a:blip r:embed="rId2"/>
          <a:stretch/>
        </p:blipFill>
        <p:spPr>
          <a:xfrm>
            <a:off x="4846320" y="148140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9" name="Text 12"/>
          <p:cNvSpPr/>
          <p:nvPr/>
        </p:nvSpPr>
        <p:spPr>
          <a:xfrm>
            <a:off x="5440680" y="148140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NIST SP 800-61 Incident Handling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5440680" y="175572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csrc.nist.gov/pubs/sp/800/61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14"/>
          <p:cNvSpPr/>
          <p:nvPr/>
        </p:nvSpPr>
        <p:spPr>
          <a:xfrm>
            <a:off x="4892040" y="210312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Metodika fáz incident response. Základ pre role a workflow v simulátore.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5"/>
          <p:cNvSpPr/>
          <p:nvPr/>
        </p:nvSpPr>
        <p:spPr>
          <a:xfrm>
            <a:off x="457200" y="301752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16"/>
          <p:cNvSpPr/>
          <p:nvPr/>
        </p:nvSpPr>
        <p:spPr>
          <a:xfrm>
            <a:off x="457200" y="301752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Image 2" descr="preencoded.png"/>
          <p:cNvPicPr/>
          <p:nvPr/>
        </p:nvPicPr>
        <p:blipFill>
          <a:blip r:embed="rId3"/>
          <a:stretch/>
        </p:blipFill>
        <p:spPr>
          <a:xfrm>
            <a:off x="640080" y="32187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Text 17"/>
          <p:cNvSpPr/>
          <p:nvPr/>
        </p:nvSpPr>
        <p:spPr>
          <a:xfrm>
            <a:off x="1234440" y="321876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OpenXR Specification (Khronos)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8"/>
          <p:cNvSpPr/>
          <p:nvPr/>
        </p:nvSpPr>
        <p:spPr>
          <a:xfrm>
            <a:off x="1234440" y="349308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khronos.org/openxr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9"/>
          <p:cNvSpPr/>
          <p:nvPr/>
        </p:nvSpPr>
        <p:spPr>
          <a:xfrm>
            <a:off x="685800" y="384048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Technický štandard pre multiplatformovú podporu VR/XR zariadení v Unity.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20"/>
          <p:cNvSpPr/>
          <p:nvPr/>
        </p:nvSpPr>
        <p:spPr>
          <a:xfrm>
            <a:off x="4663440" y="3017520"/>
            <a:ext cx="4022640" cy="1599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21"/>
          <p:cNvSpPr/>
          <p:nvPr/>
        </p:nvSpPr>
        <p:spPr>
          <a:xfrm>
            <a:off x="4663440" y="3017520"/>
            <a:ext cx="402264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3" descr="preencoded.png"/>
          <p:cNvPicPr/>
          <p:nvPr/>
        </p:nvPicPr>
        <p:blipFill>
          <a:blip r:embed="rId4"/>
          <a:stretch/>
        </p:blipFill>
        <p:spPr>
          <a:xfrm>
            <a:off x="4846320" y="3218760"/>
            <a:ext cx="456480" cy="45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22"/>
          <p:cNvSpPr/>
          <p:nvPr/>
        </p:nvSpPr>
        <p:spPr>
          <a:xfrm>
            <a:off x="5440680" y="3218760"/>
            <a:ext cx="31082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Meta Quest Developer Documentation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23"/>
          <p:cNvSpPr/>
          <p:nvPr/>
        </p:nvSpPr>
        <p:spPr>
          <a:xfrm>
            <a:off x="5440680" y="3493080"/>
            <a:ext cx="310824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0284a8"/>
                </a:solidFill>
                <a:effectLst/>
                <a:uFillTx/>
                <a:latin typeface="Consolas"/>
                <a:ea typeface="Consolas"/>
              </a:rPr>
              <a:t>developers.meta.com/horizon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24"/>
          <p:cNvSpPr/>
          <p:nvPr/>
        </p:nvSpPr>
        <p:spPr>
          <a:xfrm>
            <a:off x="4892040" y="3840480"/>
            <a:ext cx="36568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e293b"/>
                </a:solidFill>
                <a:effectLst/>
                <a:uFillTx/>
                <a:latin typeface="Calibri"/>
                <a:ea typeface="Calibri"/>
              </a:rPr>
              <a:t>Referenčná dokumentácia pre Meta Quest 3, hand tracking a výkonnostné odporúčania.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"/>
          <p:cNvSpPr/>
          <p:nvPr/>
        </p:nvSpPr>
        <p:spPr>
          <a:xfrm>
            <a:off x="0" y="4892040"/>
            <a:ext cx="9143280" cy="2509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274320" y="491940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  |  UCM Trnava  |  2026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457200" y="22860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Aktuálny stav a ďalší vývoj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4"/>
          <p:cNvSpPr/>
          <p:nvPr/>
        </p:nvSpPr>
        <p:spPr>
          <a:xfrm>
            <a:off x="457200" y="7772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Čo je hotové dnes a kam projekt smeruje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457200" y="1280160"/>
            <a:ext cx="4022640" cy="3519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0" name="Image 0" descr="preencoded.png"/>
          <p:cNvPicPr/>
          <p:nvPr/>
        </p:nvPicPr>
        <p:blipFill>
          <a:blip r:embed="rId1"/>
          <a:stretch/>
        </p:blipFill>
        <p:spPr>
          <a:xfrm>
            <a:off x="64008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Text 6"/>
          <p:cNvSpPr/>
          <p:nvPr/>
        </p:nvSpPr>
        <p:spPr>
          <a:xfrm>
            <a:off x="109728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0b981"/>
                </a:solidFill>
                <a:effectLst/>
                <a:uFillTx/>
                <a:latin typeface="Calibri"/>
                <a:ea typeface="Calibri"/>
              </a:rPr>
              <a:t>Hotové dnes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7"/>
          <p:cNvSpPr/>
          <p:nvPr/>
        </p:nvSpPr>
        <p:spPr>
          <a:xfrm>
            <a:off x="640080" y="19659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8"/>
          <p:cNvSpPr/>
          <p:nvPr/>
        </p:nvSpPr>
        <p:spPr>
          <a:xfrm>
            <a:off x="822960" y="19659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v1.0 · 24. 3. 2026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9"/>
          <p:cNvSpPr/>
          <p:nvPr/>
        </p:nvSpPr>
        <p:spPr>
          <a:xfrm>
            <a:off x="822960" y="22219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Git repozitár, GitHub Pages, základná dokumentácia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0"/>
          <p:cNvSpPr/>
          <p:nvPr/>
        </p:nvSpPr>
        <p:spPr>
          <a:xfrm>
            <a:off x="640080" y="26517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1"/>
          <p:cNvSpPr/>
          <p:nvPr/>
        </p:nvSpPr>
        <p:spPr>
          <a:xfrm>
            <a:off x="822960" y="26517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v1.1 · 26. 3. 2026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2"/>
          <p:cNvSpPr/>
          <p:nvPr/>
        </p:nvSpPr>
        <p:spPr>
          <a:xfrm>
            <a:off x="822960" y="29077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Logo, favicon, diagram toku dát, workflow scenárov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3"/>
          <p:cNvSpPr/>
          <p:nvPr/>
        </p:nvSpPr>
        <p:spPr>
          <a:xfrm>
            <a:off x="640080" y="33375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4"/>
          <p:cNvSpPr/>
          <p:nvPr/>
        </p:nvSpPr>
        <p:spPr>
          <a:xfrm>
            <a:off x="822960" y="33375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v1.2 · 3. 4. 2026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5"/>
          <p:cNvSpPr/>
          <p:nvPr/>
        </p:nvSpPr>
        <p:spPr>
          <a:xfrm>
            <a:off x="822960" y="35935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Kompletná technická dokumentácia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6"/>
          <p:cNvSpPr/>
          <p:nvPr/>
        </p:nvSpPr>
        <p:spPr>
          <a:xfrm>
            <a:off x="640080" y="4023360"/>
            <a:ext cx="72360" cy="5479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7"/>
          <p:cNvSpPr/>
          <p:nvPr/>
        </p:nvSpPr>
        <p:spPr>
          <a:xfrm>
            <a:off x="822960" y="4023360"/>
            <a:ext cx="34740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0b2447"/>
                </a:solidFill>
                <a:effectLst/>
                <a:uFillTx/>
                <a:latin typeface="Calibri"/>
                <a:ea typeface="Calibri"/>
              </a:rPr>
              <a:t>v1.4 · 17. 4. 2026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8"/>
          <p:cNvSpPr/>
          <p:nvPr/>
        </p:nvSpPr>
        <p:spPr>
          <a:xfrm>
            <a:off x="822960" y="4279320"/>
            <a:ext cx="3474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475569"/>
                </a:solidFill>
                <a:effectLst/>
                <a:uFillTx/>
                <a:latin typeface="Calibri"/>
                <a:ea typeface="Calibri"/>
              </a:rPr>
              <a:t>Cieľová skupina, MoSCoW, webové zdroje, revízia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9"/>
          <p:cNvSpPr/>
          <p:nvPr/>
        </p:nvSpPr>
        <p:spPr>
          <a:xfrm>
            <a:off x="4663440" y="1280160"/>
            <a:ext cx="4022640" cy="3519720"/>
          </a:xfrm>
          <a:prstGeom prst="rect">
            <a:avLst/>
          </a:prstGeom>
          <a:solidFill>
            <a:srgbClr val="0b24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5" name="Image 1" descr="preencoded.png"/>
          <p:cNvPicPr/>
          <p:nvPr/>
        </p:nvPicPr>
        <p:blipFill>
          <a:blip r:embed="rId2"/>
          <a:stretch/>
        </p:blipFill>
        <p:spPr>
          <a:xfrm>
            <a:off x="4846320" y="1417320"/>
            <a:ext cx="365040" cy="36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 20"/>
          <p:cNvSpPr/>
          <p:nvPr/>
        </p:nvSpPr>
        <p:spPr>
          <a:xfrm>
            <a:off x="5303520" y="1417320"/>
            <a:ext cx="3199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Roadmapa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1"/>
          <p:cNvSpPr/>
          <p:nvPr/>
        </p:nvSpPr>
        <p:spPr>
          <a:xfrm>
            <a:off x="4846320" y="20116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2"/>
          <p:cNvSpPr/>
          <p:nvPr/>
        </p:nvSpPr>
        <p:spPr>
          <a:xfrm>
            <a:off x="5029200" y="20116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v2.0 · Jeseň 2026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3"/>
          <p:cNvSpPr/>
          <p:nvPr/>
        </p:nvSpPr>
        <p:spPr>
          <a:xfrm>
            <a:off x="5029200" y="23043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Funkčný VR prototyp v Unity, základný SOC, scenár Ransomware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24"/>
          <p:cNvSpPr/>
          <p:nvPr/>
        </p:nvSpPr>
        <p:spPr>
          <a:xfrm>
            <a:off x="4846320" y="29260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5"/>
          <p:cNvSpPr/>
          <p:nvPr/>
        </p:nvSpPr>
        <p:spPr>
          <a:xfrm>
            <a:off x="5029200" y="29260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v2.5 · Leto 2027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6"/>
          <p:cNvSpPr/>
          <p:nvPr/>
        </p:nvSpPr>
        <p:spPr>
          <a:xfrm>
            <a:off x="5029200" y="32187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Tímový mód, všetky scenáre, scoring, leaderboard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7"/>
          <p:cNvSpPr/>
          <p:nvPr/>
        </p:nvSpPr>
        <p:spPr>
          <a:xfrm>
            <a:off x="4846320" y="3840480"/>
            <a:ext cx="72360" cy="77652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8"/>
          <p:cNvSpPr/>
          <p:nvPr/>
        </p:nvSpPr>
        <p:spPr>
          <a:xfrm>
            <a:off x="5029200" y="384048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v3.0 · 2027 až 2028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9"/>
          <p:cNvSpPr/>
          <p:nvPr/>
        </p:nvSpPr>
        <p:spPr>
          <a:xfrm>
            <a:off x="5029200" y="4133160"/>
            <a:ext cx="35197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Plná SK/CZ lokalizácia, školský licenčný program, LMS export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0"/>
          <p:cNvSpPr/>
          <p:nvPr/>
        </p:nvSpPr>
        <p:spPr>
          <a:xfrm>
            <a:off x="0" y="0"/>
            <a:ext cx="9143280" cy="7236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"/>
          <p:cNvSpPr/>
          <p:nvPr/>
        </p:nvSpPr>
        <p:spPr>
          <a:xfrm>
            <a:off x="457200" y="59436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CyberLab XR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2"/>
          <p:cNvSpPr/>
          <p:nvPr/>
        </p:nvSpPr>
        <p:spPr>
          <a:xfrm>
            <a:off x="457200" y="123444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trike="noStrike" u="none">
                <a:solidFill>
                  <a:srgbClr val="17b7d0"/>
                </a:solidFill>
                <a:effectLst/>
                <a:uFillTx/>
                <a:latin typeface="Calibri"/>
                <a:ea typeface="Calibri"/>
              </a:rPr>
              <a:t>Virtuálny SOC pre vzdelávanie v kybernetickej bezpečnosti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9" name="Image 0" descr="preencoded.png"/>
          <p:cNvPicPr/>
          <p:nvPr/>
        </p:nvPicPr>
        <p:blipFill>
          <a:blip r:embed="rId1"/>
          <a:stretch/>
        </p:blipFill>
        <p:spPr>
          <a:xfrm>
            <a:off x="1188720" y="19018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Text 3"/>
          <p:cNvSpPr/>
          <p:nvPr/>
        </p:nvSpPr>
        <p:spPr>
          <a:xfrm>
            <a:off x="1600200" y="182880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XR prostredie = priestorový tréning situational awareness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1" descr="preencoded.png"/>
          <p:cNvPicPr/>
          <p:nvPr/>
        </p:nvPicPr>
        <p:blipFill>
          <a:blip r:embed="rId2"/>
          <a:stretch/>
        </p:blipFill>
        <p:spPr>
          <a:xfrm>
            <a:off x="1188720" y="2286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4"/>
          <p:cNvSpPr/>
          <p:nvPr/>
        </p:nvSpPr>
        <p:spPr>
          <a:xfrm>
            <a:off x="1600200" y="221292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 realistických scenárov s detailným workflowom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2" descr="preencoded.png"/>
          <p:cNvPicPr/>
          <p:nvPr/>
        </p:nvPicPr>
        <p:blipFill>
          <a:blip r:embed="rId3"/>
          <a:stretch/>
        </p:blipFill>
        <p:spPr>
          <a:xfrm>
            <a:off x="1188720" y="267012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5"/>
          <p:cNvSpPr/>
          <p:nvPr/>
        </p:nvSpPr>
        <p:spPr>
          <a:xfrm>
            <a:off x="1600200" y="259704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Tímová spolupráca v reálnom čase, pod časovým tlakom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3" descr="preencoded.png"/>
          <p:cNvPicPr/>
          <p:nvPr/>
        </p:nvPicPr>
        <p:blipFill>
          <a:blip r:embed="rId4"/>
          <a:stretch/>
        </p:blipFill>
        <p:spPr>
          <a:xfrm>
            <a:off x="1188720" y="305424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6"/>
          <p:cNvSpPr/>
          <p:nvPr/>
        </p:nvSpPr>
        <p:spPr>
          <a:xfrm>
            <a:off x="1600200" y="298080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Priamy prenos zručností do praxe (Wireshark, Splunk, nmap)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Image 4" descr="preencoded.png"/>
          <p:cNvPicPr/>
          <p:nvPr/>
        </p:nvPicPr>
        <p:blipFill>
          <a:blip r:embed="rId5"/>
          <a:stretch/>
        </p:blipFill>
        <p:spPr>
          <a:xfrm>
            <a:off x="1188720" y="343800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8" name="Text 7"/>
          <p:cNvSpPr/>
          <p:nvPr/>
        </p:nvSpPr>
        <p:spPr>
          <a:xfrm>
            <a:off x="1600200" y="3364920"/>
            <a:ext cx="6582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Prístupné pre školy, SK/CZ lokalizácia, free tier</a:t>
            </a:r>
            <a:endParaRPr b="0" lang="en-US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8"/>
          <p:cNvSpPr/>
          <p:nvPr/>
        </p:nvSpPr>
        <p:spPr>
          <a:xfrm>
            <a:off x="914400" y="3931920"/>
            <a:ext cx="7314480" cy="36000"/>
          </a:xfrm>
          <a:prstGeom prst="rect">
            <a:avLst/>
          </a:prstGeom>
          <a:solidFill>
            <a:srgbClr val="17b7d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9"/>
          <p:cNvSpPr/>
          <p:nvPr/>
        </p:nvSpPr>
        <p:spPr>
          <a:xfrm>
            <a:off x="457200" y="4069080"/>
            <a:ext cx="8228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Ďakujeme za pozornosť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0"/>
          <p:cNvSpPr/>
          <p:nvPr/>
        </p:nvSpPr>
        <p:spPr>
          <a:xfrm>
            <a:off x="457200" y="46177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4c5e4"/>
                </a:solidFill>
                <a:effectLst/>
                <a:uFillTx/>
                <a:latin typeface="Calibri"/>
                <a:ea typeface="Calibri"/>
              </a:rPr>
              <a:t>Šimon Škreko  |  Matúš Horváth  |  UCM Trnava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LibreOffice/25.8.1.1$Linux_X86_64 LibreOffice_project/580$Build-1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2026-04-18T01:30:47Z</dcterms:created>
  <dc:creator>Simon Skreko, Matus Horvath, Jakub Vacek</dc:creator>
  <dc:description/>
  <dc:language>en-US</dc:language>
  <cp:lastModifiedBy/>
  <dcterms:modified xsi:type="dcterms:W3CDTF">2026-05-12T19:48:27Z</dcterms:modified>
  <cp:revision>4</cp:revision>
  <dc:subject>PptxGenJS Presentation</dc:subject>
  <dc:title>CyberLab XR Prezentacia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